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LLM Fundamentals: From a Sentence to the Next Predicted Token</a:t>
            </a:r>
          </a:p>
        </p:txBody>
      </p:sp>
      <p:sp>
        <p:nvSpPr>
          <p:cNvPr id="3" name="TextBox 2"/>
          <p:cNvSpPr txBox="1"/>
          <p:nvPr/>
        </p:nvSpPr>
        <p:spPr>
          <a:xfrm>
            <a:off x="530352" y="914400"/>
            <a:ext cx="10972800" cy="384048"/>
          </a:xfrm>
          <a:prstGeom prst="rect">
            <a:avLst/>
          </a:prstGeom>
          <a:noFill/>
        </p:spPr>
        <p:txBody>
          <a:bodyPr wrap="none">
            <a:spAutoFit/>
          </a:bodyPr>
          <a:lstStyle/>
          <a:p>
            <a:pPr>
              <a:defRPr sz="1300">
                <a:solidFill>
                  <a:srgbClr val="A4B8C9"/>
                </a:solidFill>
              </a:defRPr>
            </a:pPr>
            <a:r>
              <a:t>A training deck covering tokens, embeddings, projections, attention, logits, loss, backpropagation, gradients and weight updates</a:t>
            </a:r>
          </a:p>
        </p:txBody>
      </p:sp>
      <p:sp>
        <p:nvSpPr>
          <p:cNvPr id="4" name="Rounded Rectangle 3"/>
          <p:cNvSpPr/>
          <p:nvPr/>
        </p:nvSpPr>
        <p:spPr>
          <a:xfrm>
            <a:off x="731520" y="1828800"/>
            <a:ext cx="2926080" cy="118872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INPUT</a:t>
            </a:r>
          </a:p>
          <a:p>
            <a:pPr>
              <a:spcBef>
                <a:spcPts val="500"/>
              </a:spcBef>
              <a:defRPr sz="1200">
                <a:solidFill>
                  <a:srgbClr val="EEF5FA"/>
                </a:solidFill>
              </a:defRPr>
            </a:pPr>
            <a:r>
              <a:t>“The cat sat on the …”</a:t>
            </a:r>
          </a:p>
        </p:txBody>
      </p:sp>
      <p:sp>
        <p:nvSpPr>
          <p:cNvPr id="5" name="Right Arrow 4"/>
          <p:cNvSpPr/>
          <p:nvPr/>
        </p:nvSpPr>
        <p:spPr>
          <a:xfrm>
            <a:off x="3840480" y="2304288"/>
            <a:ext cx="91440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37760" y="1828800"/>
            <a:ext cx="2286000" cy="118872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TRANSFORMER</a:t>
            </a:r>
          </a:p>
          <a:p>
            <a:pPr>
              <a:spcBef>
                <a:spcPts val="500"/>
              </a:spcBef>
              <a:defRPr sz="1200">
                <a:solidFill>
                  <a:srgbClr val="EEF5FA"/>
                </a:solidFill>
              </a:defRPr>
            </a:pPr>
            <a:r>
              <a:t>Forward pass</a:t>
            </a:r>
          </a:p>
        </p:txBody>
      </p:sp>
      <p:sp>
        <p:nvSpPr>
          <p:cNvPr id="7" name="Right Arrow 6"/>
          <p:cNvSpPr/>
          <p:nvPr/>
        </p:nvSpPr>
        <p:spPr>
          <a:xfrm>
            <a:off x="7406640" y="2304288"/>
            <a:ext cx="91440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03920" y="1828800"/>
            <a:ext cx="2743200" cy="118872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OUTPUT</a:t>
            </a:r>
          </a:p>
          <a:p>
            <a:pPr>
              <a:spcBef>
                <a:spcPts val="500"/>
              </a:spcBef>
              <a:defRPr sz="1200">
                <a:solidFill>
                  <a:srgbClr val="EEF5FA"/>
                </a:solidFill>
              </a:defRPr>
            </a:pPr>
            <a:r>
              <a:t>mat / floor / chair …</a:t>
            </a:r>
          </a:p>
        </p:txBody>
      </p:sp>
      <p:sp>
        <p:nvSpPr>
          <p:cNvPr id="9" name="TextBox 8"/>
          <p:cNvSpPr txBox="1"/>
          <p:nvPr/>
        </p:nvSpPr>
        <p:spPr>
          <a:xfrm>
            <a:off x="822960" y="3749039"/>
            <a:ext cx="10515600" cy="1828800"/>
          </a:xfrm>
          <a:prstGeom prst="rect">
            <a:avLst/>
          </a:prstGeom>
          <a:noFill/>
        </p:spPr>
        <p:txBody>
          <a:bodyPr wrap="none">
            <a:spAutoFit/>
          </a:bodyPr>
          <a:lstStyle/>
          <a:p>
            <a:pPr>
              <a:spcAft>
                <a:spcPts val="1000"/>
              </a:spcAft>
              <a:defRPr sz="1800">
                <a:solidFill>
                  <a:srgbClr val="EEF5FA"/>
                </a:solidFill>
              </a:defRPr>
            </a:pPr>
            <a:r>
              <a:t>Goal: understand exactly where vectors, matrices and learned weights participate.</a:t>
            </a:r>
          </a:p>
          <a:p>
            <a:pPr>
              <a:spcAft>
                <a:spcPts val="1000"/>
              </a:spcAft>
              <a:defRPr sz="1800">
                <a:solidFill>
                  <a:srgbClr val="EEF5FA"/>
                </a:solidFill>
              </a:defRPr>
            </a:pPr>
            <a:r>
              <a:t>Separate inference (prediction) from training (prediction + loss + backpropagation + optimizer update).</a:t>
            </a:r>
          </a:p>
        </p:txBody>
      </p:sp>
      <p:sp>
        <p:nvSpPr>
          <p:cNvPr id="10" name="TextBox 9"/>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The Whole Pipeline — One View</a:t>
            </a:r>
          </a:p>
        </p:txBody>
      </p:sp>
      <p:sp>
        <p:nvSpPr>
          <p:cNvPr id="3" name="Rounded Rectangle 2"/>
          <p:cNvSpPr/>
          <p:nvPr/>
        </p:nvSpPr>
        <p:spPr>
          <a:xfrm>
            <a:off x="320040" y="2011680"/>
            <a:ext cx="1234440" cy="13258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Text</a:t>
            </a:r>
          </a:p>
          <a:p>
            <a:pPr>
              <a:spcBef>
                <a:spcPts val="500"/>
              </a:spcBef>
              <a:defRPr sz="1200">
                <a:solidFill>
                  <a:srgbClr val="EEF5FA"/>
                </a:solidFill>
              </a:defRPr>
            </a:pPr>
            <a:r>
              <a:t>The cat sat</a:t>
            </a:r>
          </a:p>
        </p:txBody>
      </p:sp>
      <p:sp>
        <p:nvSpPr>
          <p:cNvPr id="4" name="Right Arrow 3"/>
          <p:cNvSpPr/>
          <p:nvPr/>
        </p:nvSpPr>
        <p:spPr>
          <a:xfrm>
            <a:off x="1600200"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01368" y="2011680"/>
            <a:ext cx="1234440" cy="132588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Tokens</a:t>
            </a:r>
          </a:p>
          <a:p>
            <a:pPr>
              <a:spcBef>
                <a:spcPts val="500"/>
              </a:spcBef>
              <a:defRPr sz="1200">
                <a:solidFill>
                  <a:srgbClr val="EEF5FA"/>
                </a:solidFill>
              </a:defRPr>
            </a:pPr>
            <a:r>
              <a:t>[The][ cat][ sat]</a:t>
            </a:r>
          </a:p>
        </p:txBody>
      </p:sp>
      <p:sp>
        <p:nvSpPr>
          <p:cNvPr id="6" name="Right Arrow 5"/>
          <p:cNvSpPr/>
          <p:nvPr/>
        </p:nvSpPr>
        <p:spPr>
          <a:xfrm>
            <a:off x="3081528"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82696" y="2011680"/>
            <a:ext cx="1234440" cy="132588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IDs</a:t>
            </a:r>
          </a:p>
          <a:p>
            <a:pPr>
              <a:spcBef>
                <a:spcPts val="500"/>
              </a:spcBef>
              <a:defRPr sz="1200">
                <a:solidFill>
                  <a:srgbClr val="EEF5FA"/>
                </a:solidFill>
              </a:defRPr>
            </a:pPr>
            <a:r>
              <a:t>[791, 8415, 7732]</a:t>
            </a:r>
          </a:p>
        </p:txBody>
      </p:sp>
      <p:sp>
        <p:nvSpPr>
          <p:cNvPr id="8" name="Right Arrow 7"/>
          <p:cNvSpPr/>
          <p:nvPr/>
        </p:nvSpPr>
        <p:spPr>
          <a:xfrm>
            <a:off x="4562856"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64024" y="2011680"/>
            <a:ext cx="1234440" cy="132588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Embeddings</a:t>
            </a:r>
          </a:p>
          <a:p>
            <a:pPr>
              <a:spcBef>
                <a:spcPts val="500"/>
              </a:spcBef>
              <a:defRPr sz="1200">
                <a:solidFill>
                  <a:srgbClr val="EEF5FA"/>
                </a:solidFill>
              </a:defRPr>
            </a:pPr>
            <a:r>
              <a:t>X ∈ ℝⁿˣᵈ</a:t>
            </a:r>
          </a:p>
        </p:txBody>
      </p:sp>
      <p:sp>
        <p:nvSpPr>
          <p:cNvPr id="10" name="Right Arrow 9"/>
          <p:cNvSpPr/>
          <p:nvPr/>
        </p:nvSpPr>
        <p:spPr>
          <a:xfrm>
            <a:off x="6044184"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45352" y="2011680"/>
            <a:ext cx="1234440" cy="132588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Transformer</a:t>
            </a:r>
          </a:p>
          <a:p>
            <a:pPr>
              <a:spcBef>
                <a:spcPts val="500"/>
              </a:spcBef>
              <a:defRPr sz="1200">
                <a:solidFill>
                  <a:srgbClr val="EEF5FA"/>
                </a:solidFill>
              </a:defRPr>
            </a:pPr>
            <a:r>
              <a:t>Attention + MLP</a:t>
            </a:r>
          </a:p>
        </p:txBody>
      </p:sp>
      <p:sp>
        <p:nvSpPr>
          <p:cNvPr id="12" name="Right Arrow 11"/>
          <p:cNvSpPr/>
          <p:nvPr/>
        </p:nvSpPr>
        <p:spPr>
          <a:xfrm>
            <a:off x="7525512"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26680" y="2011680"/>
            <a:ext cx="1234440" cy="132588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Logits</a:t>
            </a:r>
          </a:p>
          <a:p>
            <a:pPr>
              <a:spcBef>
                <a:spcPts val="500"/>
              </a:spcBef>
              <a:defRPr sz="1200">
                <a:solidFill>
                  <a:srgbClr val="EEF5FA"/>
                </a:solidFill>
              </a:defRPr>
            </a:pPr>
            <a:r>
              <a:t>1 score / vocab token</a:t>
            </a:r>
          </a:p>
        </p:txBody>
      </p:sp>
      <p:sp>
        <p:nvSpPr>
          <p:cNvPr id="14" name="Right Arrow 13"/>
          <p:cNvSpPr/>
          <p:nvPr/>
        </p:nvSpPr>
        <p:spPr>
          <a:xfrm>
            <a:off x="9006840"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08008" y="2011680"/>
            <a:ext cx="1234440" cy="13258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Softmax</a:t>
            </a:r>
          </a:p>
          <a:p>
            <a:pPr>
              <a:spcBef>
                <a:spcPts val="500"/>
              </a:spcBef>
              <a:defRPr sz="1200">
                <a:solidFill>
                  <a:srgbClr val="EEF5FA"/>
                </a:solidFill>
              </a:defRPr>
            </a:pPr>
            <a:r>
              <a:t>probabilities</a:t>
            </a:r>
          </a:p>
        </p:txBody>
      </p:sp>
      <p:sp>
        <p:nvSpPr>
          <p:cNvPr id="16" name="Right Arrow 15"/>
          <p:cNvSpPr/>
          <p:nvPr/>
        </p:nvSpPr>
        <p:spPr>
          <a:xfrm>
            <a:off x="10488168" y="2560320"/>
            <a:ext cx="256032" cy="146304"/>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689336" y="2011680"/>
            <a:ext cx="1234440" cy="132588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Next token</a:t>
            </a:r>
          </a:p>
          <a:p>
            <a:pPr>
              <a:spcBef>
                <a:spcPts val="500"/>
              </a:spcBef>
              <a:defRPr sz="1200">
                <a:solidFill>
                  <a:srgbClr val="EEF5FA"/>
                </a:solidFill>
              </a:defRPr>
            </a:pPr>
            <a:r>
              <a:t>“on”</a:t>
            </a:r>
          </a:p>
        </p:txBody>
      </p:sp>
      <p:sp>
        <p:nvSpPr>
          <p:cNvPr id="18" name="TextBox 17"/>
          <p:cNvSpPr txBox="1"/>
          <p:nvPr/>
        </p:nvSpPr>
        <p:spPr>
          <a:xfrm>
            <a:off x="731520" y="4114800"/>
            <a:ext cx="10698480" cy="1463040"/>
          </a:xfrm>
          <a:prstGeom prst="rect">
            <a:avLst/>
          </a:prstGeom>
          <a:noFill/>
        </p:spPr>
        <p:txBody>
          <a:bodyPr wrap="none">
            <a:spAutoFit/>
          </a:bodyPr>
          <a:lstStyle/>
          <a:p>
            <a:pPr>
              <a:spcAft>
                <a:spcPts val="1000"/>
              </a:spcAft>
              <a:defRPr sz="1700">
                <a:solidFill>
                  <a:srgbClr val="EEF5FA"/>
                </a:solidFill>
              </a:defRPr>
            </a:pPr>
            <a:r>
              <a:t>During inference, this pipeline runs forward repeatedly—one newly generated token at a time.</a:t>
            </a:r>
          </a:p>
          <a:p>
            <a:pPr>
              <a:spcAft>
                <a:spcPts val="1000"/>
              </a:spcAft>
              <a:defRPr sz="1700">
                <a:solidFill>
                  <a:srgbClr val="EEF5FA"/>
                </a:solidFill>
              </a:defRPr>
            </a:pPr>
            <a:r>
              <a:t>During training, the model also knows the target token, computes loss, then sends gradients backward.</a:t>
            </a:r>
          </a:p>
        </p:txBody>
      </p:sp>
      <p:sp>
        <p:nvSpPr>
          <p:cNvPr id="19" name="TextBox 18"/>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Step 1 — Tokenization: Text Becomes Discrete Symbols</a:t>
            </a:r>
          </a:p>
        </p:txBody>
      </p:sp>
      <p:sp>
        <p:nvSpPr>
          <p:cNvPr id="3" name="TextBox 2"/>
          <p:cNvSpPr txBox="1"/>
          <p:nvPr/>
        </p:nvSpPr>
        <p:spPr>
          <a:xfrm>
            <a:off x="731520" y="1463040"/>
            <a:ext cx="5760720" cy="4389120"/>
          </a:xfrm>
          <a:prstGeom prst="rect">
            <a:avLst/>
          </a:prstGeom>
          <a:noFill/>
        </p:spPr>
        <p:txBody>
          <a:bodyPr wrap="none">
            <a:spAutoFit/>
          </a:bodyPr>
          <a:lstStyle/>
          <a:p>
            <a:pPr>
              <a:spcAft>
                <a:spcPts val="1000"/>
              </a:spcAft>
              <a:defRPr sz="1800">
                <a:solidFill>
                  <a:srgbClr val="EEF5FA"/>
                </a:solidFill>
              </a:defRPr>
            </a:pPr>
            <a:r>
              <a:t>LLMs usually operate on subword tokens, not directly on words or characters.</a:t>
            </a:r>
          </a:p>
          <a:p>
            <a:pPr>
              <a:spcAft>
                <a:spcPts val="1000"/>
              </a:spcAft>
              <a:defRPr sz="1800">
                <a:solidFill>
                  <a:srgbClr val="EEF5FA"/>
                </a:solidFill>
              </a:defRPr>
            </a:pPr>
            <a:r>
              <a:t>A tokenizer maps text → token strings → integer token IDs.</a:t>
            </a:r>
          </a:p>
          <a:p>
            <a:pPr>
              <a:spcAft>
                <a:spcPts val="1000"/>
              </a:spcAft>
              <a:defRPr sz="1800">
                <a:solidFill>
                  <a:srgbClr val="EEF5FA"/>
                </a:solidFill>
              </a:defRPr>
            </a:pPr>
            <a:r>
              <a:t>Example (illustrative only): “unbelievable” might become [“un”, “believ”, “able”].</a:t>
            </a:r>
          </a:p>
          <a:p>
            <a:pPr>
              <a:spcAft>
                <a:spcPts val="1000"/>
              </a:spcAft>
              <a:defRPr sz="1800">
                <a:solidFill>
                  <a:srgbClr val="EEF5FA"/>
                </a:solidFill>
              </a:defRPr>
            </a:pPr>
            <a:r>
              <a:t>Token IDs are indexes. ID 8415 has no semantic meaning by itself.</a:t>
            </a:r>
          </a:p>
        </p:txBody>
      </p:sp>
      <p:sp>
        <p:nvSpPr>
          <p:cNvPr id="4" name="Rounded Rectangle 3"/>
          <p:cNvSpPr/>
          <p:nvPr/>
        </p:nvSpPr>
        <p:spPr>
          <a:xfrm>
            <a:off x="6949440" y="1645920"/>
            <a:ext cx="4297680" cy="91440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TEXT</a:t>
            </a:r>
          </a:p>
          <a:p>
            <a:pPr>
              <a:spcBef>
                <a:spcPts val="500"/>
              </a:spcBef>
              <a:defRPr sz="1200">
                <a:solidFill>
                  <a:srgbClr val="EEF5FA"/>
                </a:solidFill>
              </a:defRPr>
            </a:pPr>
            <a:r>
              <a:t>The cat drinks milk</a:t>
            </a:r>
          </a:p>
        </p:txBody>
      </p:sp>
      <p:sp>
        <p:nvSpPr>
          <p:cNvPr id="5" name="Rounded Rectangle 4"/>
          <p:cNvSpPr/>
          <p:nvPr/>
        </p:nvSpPr>
        <p:spPr>
          <a:xfrm>
            <a:off x="6949440" y="2743200"/>
            <a:ext cx="4297680" cy="91440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TOKENS</a:t>
            </a:r>
          </a:p>
          <a:p>
            <a:pPr>
              <a:spcBef>
                <a:spcPts val="500"/>
              </a:spcBef>
              <a:defRPr sz="1200">
                <a:solidFill>
                  <a:srgbClr val="EEF5FA"/>
                </a:solidFill>
              </a:defRPr>
            </a:pPr>
            <a:r>
              <a:t>[The] [ cat] [ drinks] [ milk]</a:t>
            </a:r>
          </a:p>
        </p:txBody>
      </p:sp>
      <p:sp>
        <p:nvSpPr>
          <p:cNvPr id="6" name="Rounded Rectangle 5"/>
          <p:cNvSpPr/>
          <p:nvPr/>
        </p:nvSpPr>
        <p:spPr>
          <a:xfrm>
            <a:off x="6949440" y="3840480"/>
            <a:ext cx="4297680" cy="91440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TOKEN IDs</a:t>
            </a:r>
          </a:p>
          <a:p>
            <a:pPr>
              <a:spcBef>
                <a:spcPts val="500"/>
              </a:spcBef>
              <a:defRPr sz="1200">
                <a:solidFill>
                  <a:srgbClr val="EEF5FA"/>
                </a:solidFill>
              </a:defRPr>
            </a:pPr>
            <a:r>
              <a:t>[791, 8415, 22071, 10372]</a:t>
            </a:r>
          </a:p>
        </p:txBody>
      </p:sp>
      <p:sp>
        <p:nvSpPr>
          <p:cNvPr id="7" name="TextBox 6"/>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Step 2 — Embedding Lookup: Token ID → Vector</a:t>
            </a:r>
          </a:p>
        </p:txBody>
      </p:sp>
      <p:sp>
        <p:nvSpPr>
          <p:cNvPr id="3" name="TextBox 2"/>
          <p:cNvSpPr txBox="1"/>
          <p:nvPr/>
        </p:nvSpPr>
        <p:spPr>
          <a:xfrm>
            <a:off x="640080" y="1417320"/>
            <a:ext cx="5852160" cy="4754880"/>
          </a:xfrm>
          <a:prstGeom prst="rect">
            <a:avLst/>
          </a:prstGeom>
          <a:noFill/>
        </p:spPr>
        <p:txBody>
          <a:bodyPr wrap="none">
            <a:spAutoFit/>
          </a:bodyPr>
          <a:lstStyle/>
          <a:p>
            <a:pPr>
              <a:spcAft>
                <a:spcPts val="1000"/>
              </a:spcAft>
              <a:defRPr sz="1700">
                <a:solidFill>
                  <a:srgbClr val="EEF5FA"/>
                </a:solidFill>
              </a:defRPr>
            </a:pPr>
            <a:r>
              <a:t>The model owns an embedding matrix E of shape |V| × d_model.</a:t>
            </a:r>
          </a:p>
          <a:p>
            <a:pPr>
              <a:spcAft>
                <a:spcPts val="1000"/>
              </a:spcAft>
              <a:defRPr sz="1700">
                <a:solidFill>
                  <a:srgbClr val="EEF5FA"/>
                </a:solidFill>
              </a:defRPr>
            </a:pPr>
            <a:r>
              <a:t>|V| = vocabulary size; d_model = model/hidden dimension.</a:t>
            </a:r>
          </a:p>
          <a:p>
            <a:pPr>
              <a:spcAft>
                <a:spcPts val="1000"/>
              </a:spcAft>
              <a:defRPr sz="1700">
                <a:solidFill>
                  <a:srgbClr val="EEF5FA"/>
                </a:solidFill>
              </a:defRPr>
            </a:pPr>
            <a:r>
              <a:t>A token ID selects one row of E. This is a lookup, conceptually equivalent to multiplying a one-hot vector by E.</a:t>
            </a:r>
          </a:p>
          <a:p>
            <a:pPr>
              <a:spcAft>
                <a:spcPts val="1000"/>
              </a:spcAft>
              <a:defRPr sz="1700">
                <a:solidFill>
                  <a:srgbClr val="EEF5FA"/>
                </a:solidFill>
              </a:defRPr>
            </a:pPr>
            <a:r>
              <a:t>Embedding values are trainable weights learned during training.</a:t>
            </a:r>
          </a:p>
        </p:txBody>
      </p:sp>
      <p:sp>
        <p:nvSpPr>
          <p:cNvPr id="4" name="Rounded Rectangle 3"/>
          <p:cNvSpPr/>
          <p:nvPr/>
        </p:nvSpPr>
        <p:spPr>
          <a:xfrm>
            <a:off x="6858000" y="1554480"/>
            <a:ext cx="4480560" cy="91440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Embedding matrix E</a:t>
            </a:r>
          </a:p>
          <a:p>
            <a:pPr>
              <a:spcBef>
                <a:spcPts val="500"/>
              </a:spcBef>
              <a:defRPr sz="1200">
                <a:solidFill>
                  <a:srgbClr val="EEF5FA"/>
                </a:solidFill>
              </a:defRPr>
            </a:pPr>
            <a:r>
              <a:t>50,000 × 768 (example)</a:t>
            </a:r>
          </a:p>
        </p:txBody>
      </p:sp>
      <p:sp>
        <p:nvSpPr>
          <p:cNvPr id="5" name="Rounded Rectangle 4"/>
          <p:cNvSpPr/>
          <p:nvPr/>
        </p:nvSpPr>
        <p:spPr>
          <a:xfrm>
            <a:off x="6858000" y="2743200"/>
            <a:ext cx="4480560" cy="91440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Token ID 8415</a:t>
            </a:r>
          </a:p>
          <a:p>
            <a:pPr>
              <a:spcBef>
                <a:spcPts val="500"/>
              </a:spcBef>
              <a:defRPr sz="1200">
                <a:solidFill>
                  <a:srgbClr val="EEF5FA"/>
                </a:solidFill>
              </a:defRPr>
            </a:pPr>
            <a:r>
              <a:t>select row 8415</a:t>
            </a:r>
          </a:p>
        </p:txBody>
      </p:sp>
      <p:sp>
        <p:nvSpPr>
          <p:cNvPr id="6" name="Rounded Rectangle 5"/>
          <p:cNvSpPr/>
          <p:nvPr/>
        </p:nvSpPr>
        <p:spPr>
          <a:xfrm>
            <a:off x="6858000" y="3931920"/>
            <a:ext cx="4480560" cy="91440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Vector x</a:t>
            </a:r>
          </a:p>
          <a:p>
            <a:pPr>
              <a:spcBef>
                <a:spcPts val="500"/>
              </a:spcBef>
              <a:defRPr sz="1200">
                <a:solidFill>
                  <a:srgbClr val="EEF5FA"/>
                </a:solidFill>
              </a:defRPr>
            </a:pPr>
            <a:r>
              <a:t>[0.12, −0.08, …, 0.31]  → 768 numbers</a:t>
            </a:r>
          </a:p>
        </p:txBody>
      </p:sp>
      <p:sp>
        <p:nvSpPr>
          <p:cNvPr id="7" name="TextBox 6"/>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What Is a Weight?</a:t>
            </a:r>
          </a:p>
        </p:txBody>
      </p:sp>
      <p:sp>
        <p:nvSpPr>
          <p:cNvPr id="3" name="TextBox 2"/>
          <p:cNvSpPr txBox="1"/>
          <p:nvPr/>
        </p:nvSpPr>
        <p:spPr>
          <a:xfrm>
            <a:off x="731520" y="1417320"/>
            <a:ext cx="10607040" cy="4389120"/>
          </a:xfrm>
          <a:prstGeom prst="rect">
            <a:avLst/>
          </a:prstGeom>
          <a:noFill/>
        </p:spPr>
        <p:txBody>
          <a:bodyPr wrap="none">
            <a:spAutoFit/>
          </a:bodyPr>
          <a:lstStyle/>
          <a:p>
            <a:pPr>
              <a:spcAft>
                <a:spcPts val="1000"/>
              </a:spcAft>
              <a:defRPr sz="1800">
                <a:solidFill>
                  <a:srgbClr val="EEF5FA"/>
                </a:solidFill>
              </a:defRPr>
            </a:pPr>
            <a:r>
              <a:t>A weight is simply a learned numerical parameter—typically stored in floating-point or quantized form.</a:t>
            </a:r>
          </a:p>
          <a:p>
            <a:pPr>
              <a:spcAft>
                <a:spcPts val="1000"/>
              </a:spcAft>
              <a:defRPr sz="1800">
                <a:solidFill>
                  <a:srgbClr val="EEF5FA"/>
                </a:solidFill>
              </a:defRPr>
            </a:pPr>
            <a:r>
              <a:t>Weights are organized into vectors and matrices so hardware can process many multiply-accumulate operations efficiently.</a:t>
            </a:r>
          </a:p>
          <a:p>
            <a:pPr>
              <a:spcAft>
                <a:spcPts val="1000"/>
              </a:spcAft>
              <a:defRPr sz="1800">
                <a:solidFill>
                  <a:srgbClr val="EEF5FA"/>
                </a:solidFill>
              </a:defRPr>
            </a:pPr>
            <a:r>
              <a:t>At initialization, weights are set using randomized initialization schemes with controlled scale.</a:t>
            </a:r>
          </a:p>
          <a:p>
            <a:pPr>
              <a:spcAft>
                <a:spcPts val="1000"/>
              </a:spcAft>
              <a:defRPr sz="1800">
                <a:solidFill>
                  <a:srgbClr val="EEF5FA"/>
                </a:solidFill>
              </a:defRPr>
            </a:pPr>
            <a:r>
              <a:t>Training changes the weights. Inference normally keeps them fixed.</a:t>
            </a:r>
          </a:p>
          <a:p>
            <a:pPr>
              <a:spcAft>
                <a:spcPts val="1000"/>
              </a:spcAft>
              <a:defRPr sz="1800">
                <a:solidFill>
                  <a:srgbClr val="EEF5FA"/>
                </a:solidFill>
              </a:defRPr>
            </a:pPr>
            <a:r>
              <a:t>A single weight rarely has a clean human-readable meaning; behavior emerges from many weights acting together.</a:t>
            </a:r>
          </a:p>
        </p:txBody>
      </p:sp>
      <p:sp>
        <p:nvSpPr>
          <p:cNvPr id="4" name="Rounded Rectangle 3"/>
          <p:cNvSpPr/>
          <p:nvPr/>
        </p:nvSpPr>
        <p:spPr>
          <a:xfrm>
            <a:off x="2011680" y="5303520"/>
            <a:ext cx="8138160" cy="73152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Example</a:t>
            </a:r>
          </a:p>
          <a:p>
            <a:pPr>
              <a:spcBef>
                <a:spcPts val="500"/>
              </a:spcBef>
              <a:defRPr sz="1200">
                <a:solidFill>
                  <a:srgbClr val="EEF5FA"/>
                </a:solidFill>
              </a:defRPr>
            </a:pPr>
            <a:r>
              <a:t>WQ contains learned numbers such as 0.013, −0.021, … — not labels such as “noun” or “animal”.</a:t>
            </a:r>
          </a:p>
        </p:txBody>
      </p:sp>
      <p:sp>
        <p:nvSpPr>
          <p:cNvPr id="5" name="TextBox 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Vectors vs Matrices — Where Multiplication Happens</a:t>
            </a:r>
          </a:p>
        </p:txBody>
      </p:sp>
      <p:sp>
        <p:nvSpPr>
          <p:cNvPr id="3" name="Rounded Rectangle 2"/>
          <p:cNvSpPr/>
          <p:nvPr/>
        </p:nvSpPr>
        <p:spPr>
          <a:xfrm>
            <a:off x="640080" y="1554480"/>
            <a:ext cx="2926080" cy="118872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Vector</a:t>
            </a:r>
          </a:p>
          <a:p>
            <a:pPr>
              <a:spcBef>
                <a:spcPts val="500"/>
              </a:spcBef>
              <a:defRPr sz="1200">
                <a:solidFill>
                  <a:srgbClr val="EEF5FA"/>
                </a:solidFill>
              </a:defRPr>
            </a:pPr>
            <a:r>
              <a:t>One token representation</a:t>
            </a:r>
            <a:br/>
            <a:r>
              <a:t>x: 1 × d_model</a:t>
            </a:r>
          </a:p>
        </p:txBody>
      </p:sp>
      <p:sp>
        <p:nvSpPr>
          <p:cNvPr id="4" name="Right Arrow 3"/>
          <p:cNvSpPr/>
          <p:nvPr/>
        </p:nvSpPr>
        <p:spPr>
          <a:xfrm>
            <a:off x="3749039" y="2057400"/>
            <a:ext cx="64008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0" y="1554480"/>
            <a:ext cx="2926080" cy="118872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Matrix</a:t>
            </a:r>
          </a:p>
          <a:p>
            <a:pPr>
              <a:spcBef>
                <a:spcPts val="500"/>
              </a:spcBef>
              <a:defRPr sz="1200">
                <a:solidFill>
                  <a:srgbClr val="EEF5FA"/>
                </a:solidFill>
              </a:defRPr>
            </a:pPr>
            <a:r>
              <a:t>Learned transformation</a:t>
            </a:r>
            <a:br/>
            <a:r>
              <a:t>W: d_model × d_out</a:t>
            </a:r>
          </a:p>
        </p:txBody>
      </p:sp>
      <p:sp>
        <p:nvSpPr>
          <p:cNvPr id="6" name="Right Arrow 5"/>
          <p:cNvSpPr/>
          <p:nvPr/>
        </p:nvSpPr>
        <p:spPr>
          <a:xfrm>
            <a:off x="7680960" y="2057400"/>
            <a:ext cx="64008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03920" y="1554480"/>
            <a:ext cx="2926080" cy="118872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Vector</a:t>
            </a:r>
          </a:p>
          <a:p>
            <a:pPr>
              <a:spcBef>
                <a:spcPts val="500"/>
              </a:spcBef>
              <a:defRPr sz="1200">
                <a:solidFill>
                  <a:srgbClr val="EEF5FA"/>
                </a:solidFill>
              </a:defRPr>
            </a:pPr>
            <a:r>
              <a:t>output y=xW</a:t>
            </a:r>
            <a:br/>
            <a:r>
              <a:t>1 × d_out</a:t>
            </a:r>
          </a:p>
        </p:txBody>
      </p:sp>
      <p:sp>
        <p:nvSpPr>
          <p:cNvPr id="8" name="TextBox 7"/>
          <p:cNvSpPr txBox="1"/>
          <p:nvPr/>
        </p:nvSpPr>
        <p:spPr>
          <a:xfrm>
            <a:off x="822960" y="3657600"/>
            <a:ext cx="10424160" cy="1645920"/>
          </a:xfrm>
          <a:prstGeom prst="rect">
            <a:avLst/>
          </a:prstGeom>
          <a:noFill/>
        </p:spPr>
        <p:txBody>
          <a:bodyPr wrap="none">
            <a:spAutoFit/>
          </a:bodyPr>
          <a:lstStyle/>
          <a:p>
            <a:pPr>
              <a:spcAft>
                <a:spcPts val="1000"/>
              </a:spcAft>
              <a:defRPr sz="1800">
                <a:solidFill>
                  <a:srgbClr val="EEF5FA"/>
                </a:solidFill>
              </a:defRPr>
            </a:pPr>
            <a:r>
              <a:t>For a sequence of n tokens, X is a matrix: n × d_model. Then Y = XW processes all tokens together.</a:t>
            </a:r>
          </a:p>
          <a:p>
            <a:pPr>
              <a:spcAft>
                <a:spcPts val="1000"/>
              </a:spcAft>
              <a:defRPr sz="1800">
                <a:solidFill>
                  <a:srgbClr val="EEF5FA"/>
                </a:solidFill>
              </a:defRPr>
            </a:pPr>
            <a:r>
              <a:t>Modern accelerators spend much of LLM execution performing large matrix multiplications (GEMMs).</a:t>
            </a:r>
          </a:p>
        </p:txBody>
      </p:sp>
      <p:sp>
        <p:nvSpPr>
          <p:cNvPr id="9" name="TextBox 8"/>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Inside One Transformer Block</a:t>
            </a:r>
          </a:p>
        </p:txBody>
      </p:sp>
      <p:sp>
        <p:nvSpPr>
          <p:cNvPr id="3" name="Rounded Rectangle 2"/>
          <p:cNvSpPr/>
          <p:nvPr/>
        </p:nvSpPr>
        <p:spPr>
          <a:xfrm>
            <a:off x="411480" y="2057400"/>
            <a:ext cx="1600200" cy="13258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Input X</a:t>
            </a:r>
          </a:p>
          <a:p>
            <a:pPr>
              <a:spcBef>
                <a:spcPts val="500"/>
              </a:spcBef>
              <a:defRPr sz="1200">
                <a:solidFill>
                  <a:srgbClr val="EEF5FA"/>
                </a:solidFill>
              </a:defRPr>
            </a:pPr>
            <a:r>
              <a:t>token representations</a:t>
            </a:r>
          </a:p>
        </p:txBody>
      </p:sp>
      <p:sp>
        <p:nvSpPr>
          <p:cNvPr id="4" name="Right Arrow 3"/>
          <p:cNvSpPr/>
          <p:nvPr/>
        </p:nvSpPr>
        <p:spPr>
          <a:xfrm>
            <a:off x="2039112" y="2606040"/>
            <a:ext cx="246888" cy="137160"/>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57400"/>
            <a:ext cx="1600200" cy="132588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Norm</a:t>
            </a:r>
          </a:p>
          <a:p>
            <a:pPr>
              <a:spcBef>
                <a:spcPts val="500"/>
              </a:spcBef>
              <a:defRPr sz="1200">
                <a:solidFill>
                  <a:srgbClr val="EEF5FA"/>
                </a:solidFill>
              </a:defRPr>
            </a:pPr>
            <a:r>
              <a:t>normalize activations</a:t>
            </a:r>
          </a:p>
        </p:txBody>
      </p:sp>
      <p:sp>
        <p:nvSpPr>
          <p:cNvPr id="6" name="Right Arrow 5"/>
          <p:cNvSpPr/>
          <p:nvPr/>
        </p:nvSpPr>
        <p:spPr>
          <a:xfrm>
            <a:off x="3959352" y="2606040"/>
            <a:ext cx="246888" cy="137160"/>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51960" y="2057400"/>
            <a:ext cx="1600200" cy="132588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Self-Attention</a:t>
            </a:r>
          </a:p>
          <a:p>
            <a:pPr>
              <a:spcBef>
                <a:spcPts val="500"/>
              </a:spcBef>
              <a:defRPr sz="1200">
                <a:solidFill>
                  <a:srgbClr val="EEF5FA"/>
                </a:solidFill>
              </a:defRPr>
            </a:pPr>
            <a:r>
              <a:t>Q, K, V + mixing</a:t>
            </a:r>
          </a:p>
        </p:txBody>
      </p:sp>
      <p:sp>
        <p:nvSpPr>
          <p:cNvPr id="8" name="Right Arrow 7"/>
          <p:cNvSpPr/>
          <p:nvPr/>
        </p:nvSpPr>
        <p:spPr>
          <a:xfrm>
            <a:off x="5879592" y="2606040"/>
            <a:ext cx="246888" cy="137160"/>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72200" y="2057400"/>
            <a:ext cx="1600200" cy="132588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Residual</a:t>
            </a:r>
          </a:p>
          <a:p>
            <a:pPr>
              <a:spcBef>
                <a:spcPts val="500"/>
              </a:spcBef>
              <a:defRPr sz="1200">
                <a:solidFill>
                  <a:srgbClr val="EEF5FA"/>
                </a:solidFill>
              </a:defRPr>
            </a:pPr>
            <a:r>
              <a:t>+ original stream</a:t>
            </a:r>
          </a:p>
        </p:txBody>
      </p:sp>
      <p:sp>
        <p:nvSpPr>
          <p:cNvPr id="10" name="Right Arrow 9"/>
          <p:cNvSpPr/>
          <p:nvPr/>
        </p:nvSpPr>
        <p:spPr>
          <a:xfrm>
            <a:off x="7799832" y="2606040"/>
            <a:ext cx="246888" cy="137160"/>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2440" y="2057400"/>
            <a:ext cx="1600200" cy="13258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MLP / FFN</a:t>
            </a:r>
          </a:p>
          <a:p>
            <a:pPr>
              <a:spcBef>
                <a:spcPts val="500"/>
              </a:spcBef>
              <a:defRPr sz="1200">
                <a:solidFill>
                  <a:srgbClr val="EEF5FA"/>
                </a:solidFill>
              </a:defRPr>
            </a:pPr>
            <a:r>
              <a:t>nonlinear feature transform</a:t>
            </a:r>
          </a:p>
        </p:txBody>
      </p:sp>
      <p:sp>
        <p:nvSpPr>
          <p:cNvPr id="12" name="Right Arrow 11"/>
          <p:cNvSpPr/>
          <p:nvPr/>
        </p:nvSpPr>
        <p:spPr>
          <a:xfrm>
            <a:off x="9720072" y="2606040"/>
            <a:ext cx="246888" cy="137160"/>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12680" y="2057400"/>
            <a:ext cx="1600200" cy="132588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Residual</a:t>
            </a:r>
          </a:p>
          <a:p>
            <a:pPr>
              <a:spcBef>
                <a:spcPts val="500"/>
              </a:spcBef>
              <a:defRPr sz="1200">
                <a:solidFill>
                  <a:srgbClr val="EEF5FA"/>
                </a:solidFill>
              </a:defRPr>
            </a:pPr>
            <a:r>
              <a:t>block output</a:t>
            </a:r>
          </a:p>
        </p:txBody>
      </p:sp>
      <p:sp>
        <p:nvSpPr>
          <p:cNvPr id="14" name="TextBox 13"/>
          <p:cNvSpPr txBox="1"/>
          <p:nvPr/>
        </p:nvSpPr>
        <p:spPr>
          <a:xfrm>
            <a:off x="731520" y="4297680"/>
            <a:ext cx="10515600" cy="1280160"/>
          </a:xfrm>
          <a:prstGeom prst="rect">
            <a:avLst/>
          </a:prstGeom>
          <a:noFill/>
        </p:spPr>
        <p:txBody>
          <a:bodyPr wrap="none">
            <a:spAutoFit/>
          </a:bodyPr>
          <a:lstStyle/>
          <a:p>
            <a:pPr>
              <a:spcAft>
                <a:spcPts val="1000"/>
              </a:spcAft>
              <a:defRPr sz="1700">
                <a:solidFill>
                  <a:srgbClr val="EEF5FA"/>
                </a:solidFill>
              </a:defRPr>
            </a:pPr>
            <a:r>
              <a:t>Real architectures differ in normalization placement and activation details, but this is the core conceptual flow.</a:t>
            </a:r>
          </a:p>
          <a:p>
            <a:pPr>
              <a:spcAft>
                <a:spcPts val="1000"/>
              </a:spcAft>
              <a:defRPr sz="1700">
                <a:solidFill>
                  <a:srgbClr val="EEF5FA"/>
                </a:solidFill>
              </a:defRPr>
            </a:pPr>
            <a:r>
              <a:t>A model stacks many Transformer blocks.</a:t>
            </a:r>
          </a:p>
        </p:txBody>
      </p:sp>
      <p:sp>
        <p:nvSpPr>
          <p:cNvPr id="15" name="TextBox 1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Q, K, V: Three Learned Views of the Same Representation</a:t>
            </a:r>
          </a:p>
        </p:txBody>
      </p:sp>
      <p:sp>
        <p:nvSpPr>
          <p:cNvPr id="3" name="Rounded Rectangle 2"/>
          <p:cNvSpPr/>
          <p:nvPr/>
        </p:nvSpPr>
        <p:spPr>
          <a:xfrm>
            <a:off x="640080" y="2011680"/>
            <a:ext cx="2103120" cy="10972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x</a:t>
            </a:r>
          </a:p>
          <a:p>
            <a:pPr>
              <a:spcBef>
                <a:spcPts val="500"/>
              </a:spcBef>
              <a:defRPr sz="1200">
                <a:solidFill>
                  <a:srgbClr val="EEF5FA"/>
                </a:solidFill>
              </a:defRPr>
            </a:pPr>
            <a:r>
              <a:t>current token representation</a:t>
            </a:r>
          </a:p>
        </p:txBody>
      </p:sp>
      <p:sp>
        <p:nvSpPr>
          <p:cNvPr id="4" name="Right Arrow 3"/>
          <p:cNvSpPr/>
          <p:nvPr/>
        </p:nvSpPr>
        <p:spPr>
          <a:xfrm>
            <a:off x="2926080" y="1463040"/>
            <a:ext cx="73152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840480" y="1143000"/>
            <a:ext cx="2468880" cy="91440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Q = xWQ</a:t>
            </a:r>
          </a:p>
          <a:p>
            <a:pPr>
              <a:spcBef>
                <a:spcPts val="500"/>
              </a:spcBef>
              <a:defRPr sz="1200">
                <a:solidFill>
                  <a:srgbClr val="EEF5FA"/>
                </a:solidFill>
              </a:defRPr>
            </a:pPr>
            <a:r>
              <a:t>different learned projection</a:t>
            </a:r>
          </a:p>
        </p:txBody>
      </p:sp>
      <p:sp>
        <p:nvSpPr>
          <p:cNvPr id="6" name="Right Arrow 5"/>
          <p:cNvSpPr/>
          <p:nvPr/>
        </p:nvSpPr>
        <p:spPr>
          <a:xfrm>
            <a:off x="2926080" y="2834640"/>
            <a:ext cx="73152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40480" y="2514600"/>
            <a:ext cx="2468880" cy="91440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K = xWK</a:t>
            </a:r>
          </a:p>
          <a:p>
            <a:pPr>
              <a:spcBef>
                <a:spcPts val="500"/>
              </a:spcBef>
              <a:defRPr sz="1200">
                <a:solidFill>
                  <a:srgbClr val="EEF5FA"/>
                </a:solidFill>
              </a:defRPr>
            </a:pPr>
            <a:r>
              <a:t>different learned projection</a:t>
            </a:r>
          </a:p>
        </p:txBody>
      </p:sp>
      <p:sp>
        <p:nvSpPr>
          <p:cNvPr id="8" name="Right Arrow 7"/>
          <p:cNvSpPr/>
          <p:nvPr/>
        </p:nvSpPr>
        <p:spPr>
          <a:xfrm>
            <a:off x="2926080" y="4206240"/>
            <a:ext cx="73152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40480" y="3886200"/>
            <a:ext cx="2468880" cy="91440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V = xWV</a:t>
            </a:r>
          </a:p>
          <a:p>
            <a:pPr>
              <a:spcBef>
                <a:spcPts val="500"/>
              </a:spcBef>
              <a:defRPr sz="1200">
                <a:solidFill>
                  <a:srgbClr val="EEF5FA"/>
                </a:solidFill>
              </a:defRPr>
            </a:pPr>
            <a:r>
              <a:t>different learned projection</a:t>
            </a:r>
          </a:p>
        </p:txBody>
      </p:sp>
      <p:sp>
        <p:nvSpPr>
          <p:cNvPr id="10" name="TextBox 9"/>
          <p:cNvSpPr txBox="1"/>
          <p:nvPr/>
        </p:nvSpPr>
        <p:spPr>
          <a:xfrm>
            <a:off x="6766560" y="1325880"/>
            <a:ext cx="4754880" cy="4389120"/>
          </a:xfrm>
          <a:prstGeom prst="rect">
            <a:avLst/>
          </a:prstGeom>
          <a:noFill/>
        </p:spPr>
        <p:txBody>
          <a:bodyPr wrap="none">
            <a:spAutoFit/>
          </a:bodyPr>
          <a:lstStyle/>
          <a:p>
            <a:pPr>
              <a:spcAft>
                <a:spcPts val="1000"/>
              </a:spcAft>
              <a:defRPr sz="1600">
                <a:solidFill>
                  <a:srgbClr val="EEF5FA"/>
                </a:solidFill>
              </a:defRPr>
            </a:pPr>
            <a:r>
              <a:t>Q: representation used on the searching side of matching.</a:t>
            </a:r>
          </a:p>
          <a:p>
            <a:pPr>
              <a:spcAft>
                <a:spcPts val="1000"/>
              </a:spcAft>
              <a:defRPr sz="1600">
                <a:solidFill>
                  <a:srgbClr val="EEF5FA"/>
                </a:solidFill>
              </a:defRPr>
            </a:pPr>
            <a:r>
              <a:t>K: representation used on the searchable/matching side.</a:t>
            </a:r>
          </a:p>
          <a:p>
            <a:pPr>
              <a:spcAft>
                <a:spcPts val="1000"/>
              </a:spcAft>
              <a:defRPr sz="1600">
                <a:solidFill>
                  <a:srgbClr val="EEF5FA"/>
                </a:solidFill>
              </a:defRPr>
            </a:pPr>
            <a:r>
              <a:t>V: representation whose information is mixed into the output.</a:t>
            </a:r>
          </a:p>
          <a:p>
            <a:pPr>
              <a:spcAft>
                <a:spcPts val="1000"/>
              </a:spcAft>
              <a:defRPr sz="1600">
                <a:solidFill>
                  <a:srgbClr val="EEF5FA"/>
                </a:solidFill>
              </a:defRPr>
            </a:pPr>
            <a:r>
              <a:t>WQ, WK and WV—not Q, K and V themselves—are persistent learned parameters.</a:t>
            </a:r>
          </a:p>
        </p:txBody>
      </p:sp>
      <p:sp>
        <p:nvSpPr>
          <p:cNvPr id="11" name="TextBox 10"/>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Dimensions of Q/K/V and Their Weight Matrices</a:t>
            </a:r>
          </a:p>
        </p:txBody>
      </p:sp>
      <p:sp>
        <p:nvSpPr>
          <p:cNvPr id="3" name="TextBox 2"/>
          <p:cNvSpPr txBox="1"/>
          <p:nvPr/>
        </p:nvSpPr>
        <p:spPr>
          <a:xfrm>
            <a:off x="731520" y="1463040"/>
            <a:ext cx="10515600" cy="3474720"/>
          </a:xfrm>
          <a:prstGeom prst="rect">
            <a:avLst/>
          </a:prstGeom>
          <a:noFill/>
        </p:spPr>
        <p:txBody>
          <a:bodyPr wrap="none">
            <a:spAutoFit/>
          </a:bodyPr>
          <a:lstStyle/>
          <a:p>
            <a:pPr>
              <a:spcAft>
                <a:spcPts val="1000"/>
              </a:spcAft>
              <a:defRPr sz="1800">
                <a:solidFill>
                  <a:srgbClr val="EEF5FA"/>
                </a:solidFill>
              </a:defRPr>
            </a:pPr>
            <a:r>
              <a:t>Example: d_model = 768, number of heads = 12, head dimension d_head = 64.</a:t>
            </a:r>
          </a:p>
          <a:p>
            <a:pPr>
              <a:spcAft>
                <a:spcPts val="1000"/>
              </a:spcAft>
              <a:defRPr sz="1800">
                <a:solidFill>
                  <a:srgbClr val="EEF5FA"/>
                </a:solidFill>
              </a:defRPr>
            </a:pPr>
            <a:r>
              <a:t>Conceptually per head: WQ, WK, WV each have shape 768 × 64.</a:t>
            </a:r>
          </a:p>
          <a:p>
            <a:pPr>
              <a:spcAft>
                <a:spcPts val="1000"/>
              </a:spcAft>
              <a:defRPr sz="1800">
                <a:solidFill>
                  <a:srgbClr val="EEF5FA"/>
                </a:solidFill>
              </a:defRPr>
            </a:pPr>
            <a:r>
              <a:t>Across 12 heads, implementations often fuse each projection into a 768 × 768 matrix.</a:t>
            </a:r>
          </a:p>
          <a:p>
            <a:pPr>
              <a:spcAft>
                <a:spcPts val="1000"/>
              </a:spcAft>
              <a:defRPr sz="1800">
                <a:solidFill>
                  <a:srgbClr val="EEF5FA"/>
                </a:solidFill>
              </a:defRPr>
            </a:pPr>
            <a:r>
              <a:t>Parameter count for Q/K/V projections: 3 × 768 × 768 = 1,769,472 weights (biases excluded).</a:t>
            </a:r>
          </a:p>
        </p:txBody>
      </p:sp>
      <p:sp>
        <p:nvSpPr>
          <p:cNvPr id="4" name="Rounded Rectangle 3"/>
          <p:cNvSpPr/>
          <p:nvPr/>
        </p:nvSpPr>
        <p:spPr>
          <a:xfrm>
            <a:off x="1828800" y="4937760"/>
            <a:ext cx="2377440" cy="82296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X</a:t>
            </a:r>
          </a:p>
          <a:p>
            <a:pPr>
              <a:spcBef>
                <a:spcPts val="500"/>
              </a:spcBef>
              <a:defRPr sz="1200">
                <a:solidFill>
                  <a:srgbClr val="EEF5FA"/>
                </a:solidFill>
              </a:defRPr>
            </a:pPr>
            <a:r>
              <a:t>n × 768</a:t>
            </a:r>
          </a:p>
        </p:txBody>
      </p:sp>
      <p:sp>
        <p:nvSpPr>
          <p:cNvPr id="5" name="Right Arrow 4"/>
          <p:cNvSpPr/>
          <p:nvPr/>
        </p:nvSpPr>
        <p:spPr>
          <a:xfrm>
            <a:off x="4389120" y="5230368"/>
            <a:ext cx="73152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03520" y="4937760"/>
            <a:ext cx="2377440" cy="82296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WQ</a:t>
            </a:r>
          </a:p>
          <a:p>
            <a:pPr>
              <a:spcBef>
                <a:spcPts val="500"/>
              </a:spcBef>
              <a:defRPr sz="1200">
                <a:solidFill>
                  <a:srgbClr val="EEF5FA"/>
                </a:solidFill>
              </a:defRPr>
            </a:pPr>
            <a:r>
              <a:t>768 × 768</a:t>
            </a:r>
          </a:p>
        </p:txBody>
      </p:sp>
      <p:sp>
        <p:nvSpPr>
          <p:cNvPr id="7" name="Right Arrow 6"/>
          <p:cNvSpPr/>
          <p:nvPr/>
        </p:nvSpPr>
        <p:spPr>
          <a:xfrm>
            <a:off x="7863840" y="5230368"/>
            <a:ext cx="73152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778240" y="4937760"/>
            <a:ext cx="2377440" cy="82296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Q</a:t>
            </a:r>
          </a:p>
          <a:p>
            <a:pPr>
              <a:spcBef>
                <a:spcPts val="500"/>
              </a:spcBef>
              <a:defRPr sz="1200">
                <a:solidFill>
                  <a:srgbClr val="EEF5FA"/>
                </a:solidFill>
              </a:defRPr>
            </a:pPr>
            <a:r>
              <a:t>n × 768</a:t>
            </a:r>
          </a:p>
        </p:txBody>
      </p:sp>
      <p:sp>
        <p:nvSpPr>
          <p:cNvPr id="9" name="TextBox 8"/>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Attention Mathematics — What Is Multiplied?</a:t>
            </a:r>
          </a:p>
        </p:txBody>
      </p:sp>
      <p:sp>
        <p:nvSpPr>
          <p:cNvPr id="3" name="TextBox 2"/>
          <p:cNvSpPr txBox="1"/>
          <p:nvPr/>
        </p:nvSpPr>
        <p:spPr>
          <a:xfrm>
            <a:off x="685800" y="1371600"/>
            <a:ext cx="6400800" cy="4937760"/>
          </a:xfrm>
          <a:prstGeom prst="rect">
            <a:avLst/>
          </a:prstGeom>
          <a:noFill/>
        </p:spPr>
        <p:txBody>
          <a:bodyPr wrap="none">
            <a:spAutoFit/>
          </a:bodyPr>
          <a:lstStyle/>
          <a:p>
            <a:pPr>
              <a:spcAft>
                <a:spcPts val="1000"/>
              </a:spcAft>
              <a:defRPr sz="1800">
                <a:solidFill>
                  <a:srgbClr val="EEF5FA"/>
                </a:solidFill>
              </a:defRPr>
            </a:pPr>
            <a:r>
              <a:t>1. Projection: Q=XWQ, K=XWK, V=XWV</a:t>
            </a:r>
          </a:p>
          <a:p>
            <a:pPr>
              <a:spcAft>
                <a:spcPts val="1000"/>
              </a:spcAft>
              <a:defRPr sz="1800">
                <a:solidFill>
                  <a:srgbClr val="EEF5FA"/>
                </a:solidFill>
              </a:defRPr>
            </a:pPr>
            <a:r>
              <a:t>2. Similarity scores: S = QKᵀ / √d_head</a:t>
            </a:r>
          </a:p>
          <a:p>
            <a:pPr>
              <a:spcAft>
                <a:spcPts val="1000"/>
              </a:spcAft>
              <a:defRPr sz="1800">
                <a:solidFill>
                  <a:srgbClr val="EEF5FA"/>
                </a:solidFill>
              </a:defRPr>
            </a:pPr>
            <a:r>
              <a:t>3. Causal mask prevents a token from seeing future tokens during autoregressive training/inference.</a:t>
            </a:r>
          </a:p>
          <a:p>
            <a:pPr>
              <a:spcAft>
                <a:spcPts val="1000"/>
              </a:spcAft>
              <a:defRPr sz="1800">
                <a:solidFill>
                  <a:srgbClr val="EEF5FA"/>
                </a:solidFill>
              </a:defRPr>
            </a:pPr>
            <a:r>
              <a:t>4. Softmax converts each row of scores into attention weights A.</a:t>
            </a:r>
          </a:p>
          <a:p>
            <a:pPr>
              <a:spcAft>
                <a:spcPts val="1000"/>
              </a:spcAft>
              <a:defRPr sz="1800">
                <a:solidFill>
                  <a:srgbClr val="EEF5FA"/>
                </a:solidFill>
              </a:defRPr>
            </a:pPr>
            <a:r>
              <a:t>5. Weighted retrieval: O = AV</a:t>
            </a:r>
          </a:p>
          <a:p>
            <a:pPr>
              <a:spcAft>
                <a:spcPts val="1000"/>
              </a:spcAft>
              <a:defRPr sz="1800">
                <a:solidFill>
                  <a:srgbClr val="EEF5FA"/>
                </a:solidFill>
              </a:defRPr>
            </a:pPr>
            <a:r>
              <a:t>6. Heads are concatenated and projected through an output matrix WO.</a:t>
            </a:r>
          </a:p>
        </p:txBody>
      </p:sp>
      <p:sp>
        <p:nvSpPr>
          <p:cNvPr id="4" name="Rounded Rectangle 3"/>
          <p:cNvSpPr/>
          <p:nvPr/>
        </p:nvSpPr>
        <p:spPr>
          <a:xfrm>
            <a:off x="7589520" y="1554480"/>
            <a:ext cx="3749039" cy="91440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QKᵀ</a:t>
            </a:r>
          </a:p>
          <a:p>
            <a:pPr>
              <a:spcBef>
                <a:spcPts val="500"/>
              </a:spcBef>
              <a:defRPr sz="1200">
                <a:solidFill>
                  <a:srgbClr val="EEF5FA"/>
                </a:solidFill>
              </a:defRPr>
            </a:pPr>
            <a:r>
              <a:t>Who is relevant?</a:t>
            </a:r>
          </a:p>
        </p:txBody>
      </p:sp>
      <p:sp>
        <p:nvSpPr>
          <p:cNvPr id="5" name="Rounded Rectangle 4"/>
          <p:cNvSpPr/>
          <p:nvPr/>
        </p:nvSpPr>
        <p:spPr>
          <a:xfrm>
            <a:off x="7589520" y="2743200"/>
            <a:ext cx="3749039" cy="91440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softmax + mask</a:t>
            </a:r>
          </a:p>
          <a:p>
            <a:pPr>
              <a:spcBef>
                <a:spcPts val="500"/>
              </a:spcBef>
              <a:defRPr sz="1200">
                <a:solidFill>
                  <a:srgbClr val="EEF5FA"/>
                </a:solidFill>
              </a:defRPr>
            </a:pPr>
            <a:r>
              <a:t>How much attention?</a:t>
            </a:r>
          </a:p>
        </p:txBody>
      </p:sp>
      <p:sp>
        <p:nvSpPr>
          <p:cNvPr id="6" name="Rounded Rectangle 5"/>
          <p:cNvSpPr/>
          <p:nvPr/>
        </p:nvSpPr>
        <p:spPr>
          <a:xfrm>
            <a:off x="7589520" y="3931920"/>
            <a:ext cx="3749039" cy="91440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A × V</a:t>
            </a:r>
          </a:p>
          <a:p>
            <a:pPr>
              <a:spcBef>
                <a:spcPts val="500"/>
              </a:spcBef>
              <a:defRPr sz="1200">
                <a:solidFill>
                  <a:srgbClr val="EEF5FA"/>
                </a:solidFill>
              </a:defRPr>
            </a:pPr>
            <a:r>
              <a:t>What information is mixed?</a:t>
            </a:r>
          </a:p>
        </p:txBody>
      </p:sp>
      <p:sp>
        <p:nvSpPr>
          <p:cNvPr id="7" name="TextBox 6"/>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Multi-Head Attention — Why Multiple Heads?</a:t>
            </a:r>
          </a:p>
        </p:txBody>
      </p:sp>
      <p:sp>
        <p:nvSpPr>
          <p:cNvPr id="3" name="TextBox 2"/>
          <p:cNvSpPr txBox="1"/>
          <p:nvPr/>
        </p:nvSpPr>
        <p:spPr>
          <a:xfrm>
            <a:off x="731520" y="1417320"/>
            <a:ext cx="5760720" cy="4389120"/>
          </a:xfrm>
          <a:prstGeom prst="rect">
            <a:avLst/>
          </a:prstGeom>
          <a:noFill/>
        </p:spPr>
        <p:txBody>
          <a:bodyPr wrap="none">
            <a:spAutoFit/>
          </a:bodyPr>
          <a:lstStyle/>
          <a:p>
            <a:pPr>
              <a:spcAft>
                <a:spcPts val="1000"/>
              </a:spcAft>
              <a:defRPr sz="1800">
                <a:solidFill>
                  <a:srgbClr val="EEF5FA"/>
                </a:solidFill>
              </a:defRPr>
            </a:pPr>
            <a:r>
              <a:t>Instead of one large attention calculation, representation dimensions are split across multiple heads.</a:t>
            </a:r>
          </a:p>
          <a:p>
            <a:pPr>
              <a:spcAft>
                <a:spcPts val="1000"/>
              </a:spcAft>
              <a:defRPr sz="1800">
                <a:solidFill>
                  <a:srgbClr val="EEF5FA"/>
                </a:solidFill>
              </a:defRPr>
            </a:pPr>
            <a:r>
              <a:t>Each head has its own learned Q/K/V subspace and can develop different useful interaction patterns.</a:t>
            </a:r>
          </a:p>
          <a:p>
            <a:pPr>
              <a:spcAft>
                <a:spcPts val="1000"/>
              </a:spcAft>
              <a:defRPr sz="1800">
                <a:solidFill>
                  <a:srgbClr val="EEF5FA"/>
                </a:solidFill>
              </a:defRPr>
            </a:pPr>
            <a:r>
              <a:t>Heads run in parallel, producing multiple context-sensitive outputs.</a:t>
            </a:r>
          </a:p>
          <a:p>
            <a:pPr>
              <a:spcAft>
                <a:spcPts val="1000"/>
              </a:spcAft>
              <a:defRPr sz="1800">
                <a:solidFill>
                  <a:srgbClr val="EEF5FA"/>
                </a:solidFill>
              </a:defRPr>
            </a:pPr>
            <a:r>
              <a:t>Their outputs are concatenated and transformed by WO.</a:t>
            </a:r>
          </a:p>
        </p:txBody>
      </p:sp>
      <p:sp>
        <p:nvSpPr>
          <p:cNvPr id="4" name="Rounded Rectangle 3"/>
          <p:cNvSpPr/>
          <p:nvPr/>
        </p:nvSpPr>
        <p:spPr>
          <a:xfrm>
            <a:off x="6949440" y="1325880"/>
            <a:ext cx="3474720" cy="77724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Head 1</a:t>
            </a:r>
          </a:p>
          <a:p>
            <a:pPr>
              <a:spcBef>
                <a:spcPts val="500"/>
              </a:spcBef>
              <a:defRPr sz="1200">
                <a:solidFill>
                  <a:srgbClr val="EEF5FA"/>
                </a:solidFill>
              </a:defRPr>
            </a:pPr>
            <a:r>
              <a:t>Q1K1ᵀ → softmax → V1</a:t>
            </a:r>
          </a:p>
        </p:txBody>
      </p:sp>
      <p:sp>
        <p:nvSpPr>
          <p:cNvPr id="5" name="Rounded Rectangle 4"/>
          <p:cNvSpPr/>
          <p:nvPr/>
        </p:nvSpPr>
        <p:spPr>
          <a:xfrm>
            <a:off x="6949440" y="2377439"/>
            <a:ext cx="3474720" cy="77724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Head 2</a:t>
            </a:r>
          </a:p>
          <a:p>
            <a:pPr>
              <a:spcBef>
                <a:spcPts val="500"/>
              </a:spcBef>
              <a:defRPr sz="1200">
                <a:solidFill>
                  <a:srgbClr val="EEF5FA"/>
                </a:solidFill>
              </a:defRPr>
            </a:pPr>
            <a:r>
              <a:t>Q2K2ᵀ → softmax → V2</a:t>
            </a:r>
          </a:p>
        </p:txBody>
      </p:sp>
      <p:sp>
        <p:nvSpPr>
          <p:cNvPr id="6" name="Rounded Rectangle 5"/>
          <p:cNvSpPr/>
          <p:nvPr/>
        </p:nvSpPr>
        <p:spPr>
          <a:xfrm>
            <a:off x="6949440" y="3429000"/>
            <a:ext cx="3474720" cy="77724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Head 3</a:t>
            </a:r>
          </a:p>
          <a:p>
            <a:pPr>
              <a:spcBef>
                <a:spcPts val="500"/>
              </a:spcBef>
              <a:defRPr sz="1200">
                <a:solidFill>
                  <a:srgbClr val="EEF5FA"/>
                </a:solidFill>
              </a:defRPr>
            </a:pPr>
            <a:r>
              <a:t>Q3K3ᵀ → softmax → V3</a:t>
            </a:r>
          </a:p>
        </p:txBody>
      </p:sp>
      <p:sp>
        <p:nvSpPr>
          <p:cNvPr id="7" name="Rounded Rectangle 6"/>
          <p:cNvSpPr/>
          <p:nvPr/>
        </p:nvSpPr>
        <p:spPr>
          <a:xfrm>
            <a:off x="6949440" y="4480559"/>
            <a:ext cx="3474720" cy="77724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Head 4</a:t>
            </a:r>
          </a:p>
          <a:p>
            <a:pPr>
              <a:spcBef>
                <a:spcPts val="500"/>
              </a:spcBef>
              <a:defRPr sz="1200">
                <a:solidFill>
                  <a:srgbClr val="EEF5FA"/>
                </a:solidFill>
              </a:defRPr>
            </a:pPr>
            <a:r>
              <a:t>Q4K4ᵀ → softmax → V4</a:t>
            </a:r>
          </a:p>
        </p:txBody>
      </p:sp>
      <p:sp>
        <p:nvSpPr>
          <p:cNvPr id="8" name="Rounded Rectangle 7"/>
          <p:cNvSpPr/>
          <p:nvPr/>
        </p:nvSpPr>
        <p:spPr>
          <a:xfrm>
            <a:off x="6949440" y="5486400"/>
            <a:ext cx="3474720" cy="685800"/>
          </a:xfrm>
          <a:prstGeom prst="roundRect">
            <a:avLst/>
          </a:prstGeom>
          <a:solidFill>
            <a:srgbClr val="112337"/>
          </a:solidFill>
          <a:ln>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7185"/>
                </a:solidFill>
              </a:defRPr>
            </a:pPr>
            <a:r>
              <a:t>Concat → WO</a:t>
            </a:r>
          </a:p>
          <a:p>
            <a:pPr>
              <a:spcBef>
                <a:spcPts val="500"/>
              </a:spcBef>
              <a:defRPr sz="1200">
                <a:solidFill>
                  <a:srgbClr val="EEF5FA"/>
                </a:solidFill>
              </a:defRPr>
            </a:pPr>
            <a:r>
              <a:t>combined attention output</a:t>
            </a:r>
          </a:p>
        </p:txBody>
      </p:sp>
      <p:sp>
        <p:nvSpPr>
          <p:cNvPr id="9" name="TextBox 8"/>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Causal Attention — Why the Model Cannot Peek Ahead</a:t>
            </a:r>
          </a:p>
        </p:txBody>
      </p:sp>
      <p:sp>
        <p:nvSpPr>
          <p:cNvPr id="3" name="TextBox 2"/>
          <p:cNvSpPr txBox="1"/>
          <p:nvPr/>
        </p:nvSpPr>
        <p:spPr>
          <a:xfrm>
            <a:off x="731520" y="1371600"/>
            <a:ext cx="5760720" cy="4389120"/>
          </a:xfrm>
          <a:prstGeom prst="rect">
            <a:avLst/>
          </a:prstGeom>
          <a:noFill/>
        </p:spPr>
        <p:txBody>
          <a:bodyPr wrap="none">
            <a:spAutoFit/>
          </a:bodyPr>
          <a:lstStyle/>
          <a:p>
            <a:pPr>
              <a:spcAft>
                <a:spcPts val="1000"/>
              </a:spcAft>
              <a:defRPr sz="1800">
                <a:solidFill>
                  <a:srgbClr val="EEF5FA"/>
                </a:solidFill>
              </a:defRPr>
            </a:pPr>
            <a:r>
              <a:t>For next-token prediction, position i may attend only to positions ≤ i.</a:t>
            </a:r>
          </a:p>
          <a:p>
            <a:pPr>
              <a:spcAft>
                <a:spcPts val="1000"/>
              </a:spcAft>
              <a:defRPr sz="1800">
                <a:solidFill>
                  <a:srgbClr val="EEF5FA"/>
                </a:solidFill>
              </a:defRPr>
            </a:pPr>
            <a:r>
              <a:t>A triangular causal mask sets future-position scores to −∞ before softmax.</a:t>
            </a:r>
          </a:p>
          <a:p>
            <a:pPr>
              <a:spcAft>
                <a:spcPts val="1000"/>
              </a:spcAft>
              <a:defRPr sz="1800">
                <a:solidFill>
                  <a:srgbClr val="EEF5FA"/>
                </a:solidFill>
              </a:defRPr>
            </a:pPr>
            <a:r>
              <a:t>Therefore the training example can process many positions in parallel while preserving the autoregressive rule.</a:t>
            </a:r>
          </a:p>
        </p:txBody>
      </p:sp>
      <p:sp>
        <p:nvSpPr>
          <p:cNvPr id="4" name="Rounded Rectangle 3"/>
          <p:cNvSpPr/>
          <p:nvPr/>
        </p:nvSpPr>
        <p:spPr>
          <a:xfrm>
            <a:off x="7040880" y="1371600"/>
            <a:ext cx="3931920" cy="393192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Illustrative mask</a:t>
            </a:r>
          </a:p>
          <a:p>
            <a:pPr>
              <a:spcBef>
                <a:spcPts val="500"/>
              </a:spcBef>
              <a:defRPr sz="1200">
                <a:solidFill>
                  <a:srgbClr val="EEF5FA"/>
                </a:solidFill>
              </a:defRPr>
            </a:pPr>
            <a:r>
              <a:t>✓  ×  ×  ×</a:t>
            </a:r>
            <a:br/>
            <a:r>
              <a:t>✓  ✓  ×  ×</a:t>
            </a:r>
            <a:br/>
            <a:r>
              <a:t>✓  ✓  ✓  ×</a:t>
            </a:r>
            <a:br/>
            <a:r>
              <a:t>✓  ✓  ✓  ✓</a:t>
            </a:r>
            <a:br/>
            <a:br/>
            <a:r>
              <a:t>row = querying token</a:t>
            </a:r>
            <a:br/>
            <a:r>
              <a:t>column = candidate key</a:t>
            </a:r>
          </a:p>
        </p:txBody>
      </p:sp>
      <p:sp>
        <p:nvSpPr>
          <p:cNvPr id="5" name="TextBox 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After Attention — MLP / Feed-Forward Network</a:t>
            </a:r>
          </a:p>
        </p:txBody>
      </p:sp>
      <p:sp>
        <p:nvSpPr>
          <p:cNvPr id="3" name="TextBox 2"/>
          <p:cNvSpPr txBox="1"/>
          <p:nvPr/>
        </p:nvSpPr>
        <p:spPr>
          <a:xfrm>
            <a:off x="731520" y="1371600"/>
            <a:ext cx="5943600" cy="4480560"/>
          </a:xfrm>
          <a:prstGeom prst="rect">
            <a:avLst/>
          </a:prstGeom>
          <a:noFill/>
        </p:spPr>
        <p:txBody>
          <a:bodyPr wrap="none">
            <a:spAutoFit/>
          </a:bodyPr>
          <a:lstStyle/>
          <a:p>
            <a:pPr>
              <a:spcAft>
                <a:spcPts val="1000"/>
              </a:spcAft>
              <a:defRPr sz="1800">
                <a:solidFill>
                  <a:srgbClr val="EEF5FA"/>
                </a:solidFill>
              </a:defRPr>
            </a:pPr>
            <a:r>
              <a:t>Attention mixes information across token positions.</a:t>
            </a:r>
          </a:p>
          <a:p>
            <a:pPr>
              <a:spcAft>
                <a:spcPts val="1000"/>
              </a:spcAft>
              <a:defRPr sz="1800">
                <a:solidFill>
                  <a:srgbClr val="EEF5FA"/>
                </a:solidFill>
              </a:defRPr>
            </a:pPr>
            <a:r>
              <a:t>The MLP transforms features within each token position.</a:t>
            </a:r>
          </a:p>
          <a:p>
            <a:pPr>
              <a:spcAft>
                <a:spcPts val="1000"/>
              </a:spcAft>
              <a:defRPr sz="1800">
                <a:solidFill>
                  <a:srgbClr val="EEF5FA"/>
                </a:solidFill>
              </a:defRPr>
            </a:pPr>
            <a:r>
              <a:t>Typical structure: hidden → larger intermediate dimension → activation (e.g., GELU/SwiGLU family) → hidden.</a:t>
            </a:r>
          </a:p>
          <a:p>
            <a:pPr>
              <a:spcAft>
                <a:spcPts val="1000"/>
              </a:spcAft>
              <a:defRPr sz="1800">
                <a:solidFill>
                  <a:srgbClr val="EEF5FA"/>
                </a:solidFill>
              </a:defRPr>
            </a:pPr>
            <a:r>
              <a:t>These linear layers also contain large learned weight matrices and dominate a substantial fraction of model parameters.</a:t>
            </a:r>
          </a:p>
        </p:txBody>
      </p:sp>
      <p:sp>
        <p:nvSpPr>
          <p:cNvPr id="4" name="Rounded Rectangle 3"/>
          <p:cNvSpPr/>
          <p:nvPr/>
        </p:nvSpPr>
        <p:spPr>
          <a:xfrm>
            <a:off x="7040880" y="1554480"/>
            <a:ext cx="3840480" cy="82296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x</a:t>
            </a:r>
          </a:p>
          <a:p>
            <a:pPr>
              <a:spcBef>
                <a:spcPts val="500"/>
              </a:spcBef>
              <a:defRPr sz="1200">
                <a:solidFill>
                  <a:srgbClr val="EEF5FA"/>
                </a:solidFill>
              </a:defRPr>
            </a:pPr>
            <a:r>
              <a:t>d_model</a:t>
            </a:r>
          </a:p>
        </p:txBody>
      </p:sp>
      <p:sp>
        <p:nvSpPr>
          <p:cNvPr id="5" name="Right Arrow 4"/>
          <p:cNvSpPr/>
          <p:nvPr/>
        </p:nvSpPr>
        <p:spPr>
          <a:xfrm>
            <a:off x="8503920" y="2514600"/>
            <a:ext cx="36576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040880" y="2651760"/>
            <a:ext cx="3840480" cy="82296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Linear W₁</a:t>
            </a:r>
          </a:p>
          <a:p>
            <a:pPr>
              <a:spcBef>
                <a:spcPts val="500"/>
              </a:spcBef>
              <a:defRPr sz="1200">
                <a:solidFill>
                  <a:srgbClr val="EEF5FA"/>
                </a:solidFill>
              </a:defRPr>
            </a:pPr>
            <a:r>
              <a:t>d_model → d_ff</a:t>
            </a:r>
          </a:p>
        </p:txBody>
      </p:sp>
      <p:sp>
        <p:nvSpPr>
          <p:cNvPr id="7" name="Right Arrow 6"/>
          <p:cNvSpPr/>
          <p:nvPr/>
        </p:nvSpPr>
        <p:spPr>
          <a:xfrm>
            <a:off x="8503920" y="3611880"/>
            <a:ext cx="36576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0" y="3749039"/>
            <a:ext cx="3840480" cy="82296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Activation</a:t>
            </a:r>
          </a:p>
          <a:p>
            <a:pPr>
              <a:spcBef>
                <a:spcPts val="500"/>
              </a:spcBef>
              <a:defRPr sz="1200">
                <a:solidFill>
                  <a:srgbClr val="EEF5FA"/>
                </a:solidFill>
              </a:defRPr>
            </a:pPr>
            <a:r>
              <a:t>nonlinearity</a:t>
            </a:r>
          </a:p>
        </p:txBody>
      </p:sp>
      <p:sp>
        <p:nvSpPr>
          <p:cNvPr id="9" name="Right Arrow 8"/>
          <p:cNvSpPr/>
          <p:nvPr/>
        </p:nvSpPr>
        <p:spPr>
          <a:xfrm>
            <a:off x="8503920" y="4709160"/>
            <a:ext cx="36576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0" y="4846320"/>
            <a:ext cx="3840480" cy="82296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Linear W₂</a:t>
            </a:r>
          </a:p>
          <a:p>
            <a:pPr>
              <a:spcBef>
                <a:spcPts val="500"/>
              </a:spcBef>
              <a:defRPr sz="1200">
                <a:solidFill>
                  <a:srgbClr val="EEF5FA"/>
                </a:solidFill>
              </a:defRPr>
            </a:pPr>
            <a:r>
              <a:t>d_ff → d_model</a:t>
            </a:r>
          </a:p>
        </p:txBody>
      </p:sp>
      <p:sp>
        <p:nvSpPr>
          <p:cNvPr id="11" name="TextBox 10"/>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Stacking Layers Builds Contextual Representations</a:t>
            </a:r>
          </a:p>
        </p:txBody>
      </p:sp>
      <p:sp>
        <p:nvSpPr>
          <p:cNvPr id="3" name="TextBox 2"/>
          <p:cNvSpPr txBox="1"/>
          <p:nvPr/>
        </p:nvSpPr>
        <p:spPr>
          <a:xfrm>
            <a:off x="731520" y="1371600"/>
            <a:ext cx="10607040" cy="3108960"/>
          </a:xfrm>
          <a:prstGeom prst="rect">
            <a:avLst/>
          </a:prstGeom>
          <a:noFill/>
        </p:spPr>
        <p:txBody>
          <a:bodyPr wrap="none">
            <a:spAutoFit/>
          </a:bodyPr>
          <a:lstStyle/>
          <a:p>
            <a:pPr>
              <a:spcAft>
                <a:spcPts val="1000"/>
              </a:spcAft>
              <a:defRPr sz="1800">
                <a:solidFill>
                  <a:srgbClr val="EEF5FA"/>
                </a:solidFill>
              </a:defRPr>
            </a:pPr>
            <a:r>
              <a:t>The initial embedding is context-independent for that token ID.</a:t>
            </a:r>
          </a:p>
          <a:p>
            <a:pPr>
              <a:spcAft>
                <a:spcPts val="1000"/>
              </a:spcAft>
              <a:defRPr sz="1800">
                <a:solidFill>
                  <a:srgbClr val="EEF5FA"/>
                </a:solidFill>
              </a:defRPr>
            </a:pPr>
            <a:r>
              <a:t>After each Transformer block, the token representation incorporates information from permitted context.</a:t>
            </a:r>
          </a:p>
          <a:p>
            <a:pPr>
              <a:spcAft>
                <a:spcPts val="1000"/>
              </a:spcAft>
              <a:defRPr sz="1800">
                <a:solidFill>
                  <a:srgbClr val="EEF5FA"/>
                </a:solidFill>
              </a:defRPr>
            </a:pPr>
            <a:r>
              <a:t>The same token can therefore end with different hidden states in different sentences.</a:t>
            </a:r>
          </a:p>
          <a:p>
            <a:pPr>
              <a:spcAft>
                <a:spcPts val="1000"/>
              </a:spcAft>
              <a:defRPr sz="1800">
                <a:solidFill>
                  <a:srgbClr val="EEF5FA"/>
                </a:solidFill>
              </a:defRPr>
            </a:pPr>
            <a:r>
              <a:t>The final hidden state at the last position is used to predict the next token.</a:t>
            </a:r>
          </a:p>
        </p:txBody>
      </p:sp>
      <p:sp>
        <p:nvSpPr>
          <p:cNvPr id="4" name="Rounded Rectangle 3"/>
          <p:cNvSpPr/>
          <p:nvPr/>
        </p:nvSpPr>
        <p:spPr>
          <a:xfrm>
            <a:off x="914400" y="4754880"/>
            <a:ext cx="1828800" cy="82296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Embedding</a:t>
            </a:r>
          </a:p>
          <a:p>
            <a:pPr>
              <a:spcBef>
                <a:spcPts val="500"/>
              </a:spcBef>
              <a:defRPr sz="1200">
                <a:solidFill>
                  <a:srgbClr val="EEF5FA"/>
                </a:solidFill>
              </a:defRPr>
            </a:pPr>
            <a:r>
              <a:t>x₀</a:t>
            </a:r>
          </a:p>
        </p:txBody>
      </p:sp>
      <p:sp>
        <p:nvSpPr>
          <p:cNvPr id="5" name="Right Arrow 4"/>
          <p:cNvSpPr/>
          <p:nvPr/>
        </p:nvSpPr>
        <p:spPr>
          <a:xfrm>
            <a:off x="2926080" y="5047488"/>
            <a:ext cx="64008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749039" y="4754880"/>
            <a:ext cx="1828800" cy="82296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Block 1</a:t>
            </a:r>
          </a:p>
          <a:p>
            <a:pPr>
              <a:spcBef>
                <a:spcPts val="500"/>
              </a:spcBef>
              <a:defRPr sz="1200">
                <a:solidFill>
                  <a:srgbClr val="EEF5FA"/>
                </a:solidFill>
              </a:defRPr>
            </a:pPr>
            <a:r>
              <a:t>x₁</a:t>
            </a:r>
          </a:p>
        </p:txBody>
      </p:sp>
      <p:sp>
        <p:nvSpPr>
          <p:cNvPr id="7" name="Right Arrow 6"/>
          <p:cNvSpPr/>
          <p:nvPr/>
        </p:nvSpPr>
        <p:spPr>
          <a:xfrm>
            <a:off x="5760720" y="5047488"/>
            <a:ext cx="64008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0" y="4754880"/>
            <a:ext cx="1828800" cy="82296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a:t>
            </a:r>
          </a:p>
          <a:p>
            <a:pPr>
              <a:spcBef>
                <a:spcPts val="500"/>
              </a:spcBef>
              <a:defRPr sz="1200">
                <a:solidFill>
                  <a:srgbClr val="EEF5FA"/>
                </a:solidFill>
              </a:defRPr>
            </a:pPr>
            <a:r>
              <a:t>many layers</a:t>
            </a:r>
          </a:p>
        </p:txBody>
      </p:sp>
      <p:sp>
        <p:nvSpPr>
          <p:cNvPr id="9" name="Right Arrow 8"/>
          <p:cNvSpPr/>
          <p:nvPr/>
        </p:nvSpPr>
        <p:spPr>
          <a:xfrm>
            <a:off x="8595360" y="5047488"/>
            <a:ext cx="64008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418320" y="4754880"/>
            <a:ext cx="1828800" cy="82296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Final</a:t>
            </a:r>
          </a:p>
          <a:p>
            <a:pPr>
              <a:spcBef>
                <a:spcPts val="500"/>
              </a:spcBef>
              <a:defRPr sz="1200">
                <a:solidFill>
                  <a:srgbClr val="EEF5FA"/>
                </a:solidFill>
              </a:defRPr>
            </a:pPr>
            <a:r>
              <a:t>h</a:t>
            </a:r>
          </a:p>
        </p:txBody>
      </p:sp>
      <p:sp>
        <p:nvSpPr>
          <p:cNvPr id="11" name="TextBox 10"/>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From Final Hidden State to Vocabulary Logits</a:t>
            </a:r>
          </a:p>
        </p:txBody>
      </p:sp>
      <p:sp>
        <p:nvSpPr>
          <p:cNvPr id="3" name="TextBox 2"/>
          <p:cNvSpPr txBox="1"/>
          <p:nvPr/>
        </p:nvSpPr>
        <p:spPr>
          <a:xfrm>
            <a:off x="731520" y="1371600"/>
            <a:ext cx="6035040" cy="4389120"/>
          </a:xfrm>
          <a:prstGeom prst="rect">
            <a:avLst/>
          </a:prstGeom>
          <a:noFill/>
        </p:spPr>
        <p:txBody>
          <a:bodyPr wrap="none">
            <a:spAutoFit/>
          </a:bodyPr>
          <a:lstStyle/>
          <a:p>
            <a:pPr>
              <a:spcAft>
                <a:spcPts val="1000"/>
              </a:spcAft>
              <a:defRPr sz="1800">
                <a:solidFill>
                  <a:srgbClr val="EEF5FA"/>
                </a:solidFill>
              </a:defRPr>
            </a:pPr>
            <a:r>
              <a:t>The final hidden vector h has d_model numbers.</a:t>
            </a:r>
          </a:p>
          <a:p>
            <a:pPr>
              <a:spcAft>
                <a:spcPts val="1000"/>
              </a:spcAft>
              <a:defRPr sz="1800">
                <a:solidFill>
                  <a:srgbClr val="EEF5FA"/>
                </a:solidFill>
              </a:defRPr>
            </a:pPr>
            <a:r>
              <a:t>An output projection maps h to one score per vocabulary token: logits = hW_vocab (+ bias in some architectures).</a:t>
            </a:r>
          </a:p>
          <a:p>
            <a:pPr>
              <a:spcAft>
                <a:spcPts val="1000"/>
              </a:spcAft>
              <a:defRPr sz="1800">
                <a:solidFill>
                  <a:srgbClr val="EEF5FA"/>
                </a:solidFill>
              </a:defRPr>
            </a:pPr>
            <a:r>
              <a:t>If vocabulary size is 50,000, the output contains 50,000 logits.</a:t>
            </a:r>
          </a:p>
          <a:p>
            <a:pPr>
              <a:spcAft>
                <a:spcPts val="1000"/>
              </a:spcAft>
              <a:defRPr sz="1800">
                <a:solidFill>
                  <a:srgbClr val="EEF5FA"/>
                </a:solidFill>
              </a:defRPr>
            </a:pPr>
            <a:r>
              <a:t>Many LLMs tie the output projection weights to the token embedding matrix, though this is architecture-dependent.</a:t>
            </a:r>
          </a:p>
        </p:txBody>
      </p:sp>
      <p:sp>
        <p:nvSpPr>
          <p:cNvPr id="4" name="Rounded Rectangle 3"/>
          <p:cNvSpPr/>
          <p:nvPr/>
        </p:nvSpPr>
        <p:spPr>
          <a:xfrm>
            <a:off x="7132320" y="1645920"/>
            <a:ext cx="3657600" cy="82296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h</a:t>
            </a:r>
          </a:p>
          <a:p>
            <a:pPr>
              <a:spcBef>
                <a:spcPts val="500"/>
              </a:spcBef>
              <a:defRPr sz="1200">
                <a:solidFill>
                  <a:srgbClr val="EEF5FA"/>
                </a:solidFill>
              </a:defRPr>
            </a:pPr>
            <a:r>
              <a:t>1 × 768</a:t>
            </a:r>
          </a:p>
        </p:txBody>
      </p:sp>
      <p:sp>
        <p:nvSpPr>
          <p:cNvPr id="5" name="Right Arrow 4"/>
          <p:cNvSpPr/>
          <p:nvPr/>
        </p:nvSpPr>
        <p:spPr>
          <a:xfrm>
            <a:off x="8595360" y="2651760"/>
            <a:ext cx="36576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0" y="2834640"/>
            <a:ext cx="3657600" cy="82296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W_vocab</a:t>
            </a:r>
          </a:p>
          <a:p>
            <a:pPr>
              <a:spcBef>
                <a:spcPts val="500"/>
              </a:spcBef>
              <a:defRPr sz="1200">
                <a:solidFill>
                  <a:srgbClr val="EEF5FA"/>
                </a:solidFill>
              </a:defRPr>
            </a:pPr>
            <a:r>
              <a:t>768 × 50,000</a:t>
            </a:r>
          </a:p>
        </p:txBody>
      </p:sp>
      <p:sp>
        <p:nvSpPr>
          <p:cNvPr id="7" name="Right Arrow 6"/>
          <p:cNvSpPr/>
          <p:nvPr/>
        </p:nvSpPr>
        <p:spPr>
          <a:xfrm>
            <a:off x="8595360" y="3840480"/>
            <a:ext cx="36576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32320" y="4023360"/>
            <a:ext cx="3657600" cy="82296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logits</a:t>
            </a:r>
          </a:p>
          <a:p>
            <a:pPr>
              <a:spcBef>
                <a:spcPts val="500"/>
              </a:spcBef>
              <a:defRPr sz="1200">
                <a:solidFill>
                  <a:srgbClr val="EEF5FA"/>
                </a:solidFill>
              </a:defRPr>
            </a:pPr>
            <a:r>
              <a:t>1 × 50,000</a:t>
            </a:r>
          </a:p>
        </p:txBody>
      </p:sp>
      <p:sp>
        <p:nvSpPr>
          <p:cNvPr id="9" name="TextBox 8"/>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Softmax and Token Selection</a:t>
            </a:r>
          </a:p>
        </p:txBody>
      </p:sp>
      <p:sp>
        <p:nvSpPr>
          <p:cNvPr id="3" name="TextBox 2"/>
          <p:cNvSpPr txBox="1"/>
          <p:nvPr/>
        </p:nvSpPr>
        <p:spPr>
          <a:xfrm>
            <a:off x="731520" y="1371600"/>
            <a:ext cx="5852160" cy="4389120"/>
          </a:xfrm>
          <a:prstGeom prst="rect">
            <a:avLst/>
          </a:prstGeom>
          <a:noFill/>
        </p:spPr>
        <p:txBody>
          <a:bodyPr wrap="none">
            <a:spAutoFit/>
          </a:bodyPr>
          <a:lstStyle/>
          <a:p>
            <a:pPr>
              <a:spcAft>
                <a:spcPts val="1000"/>
              </a:spcAft>
              <a:defRPr sz="1800">
                <a:solidFill>
                  <a:srgbClr val="EEF5FA"/>
                </a:solidFill>
              </a:defRPr>
            </a:pPr>
            <a:r>
              <a:t>Softmax turns logits into a probability distribution over the vocabulary.</a:t>
            </a:r>
          </a:p>
          <a:p>
            <a:pPr>
              <a:spcAft>
                <a:spcPts val="1000"/>
              </a:spcAft>
              <a:defRPr sz="1800">
                <a:solidFill>
                  <a:srgbClr val="EEF5FA"/>
                </a:solidFill>
              </a:defRPr>
            </a:pPr>
            <a:r>
              <a:t>Greedy decoding selects the highest-probability token.</a:t>
            </a:r>
          </a:p>
          <a:p>
            <a:pPr>
              <a:spcAft>
                <a:spcPts val="1000"/>
              </a:spcAft>
              <a:defRPr sz="1800">
                <a:solidFill>
                  <a:srgbClr val="EEF5FA"/>
                </a:solidFill>
              </a:defRPr>
            </a:pPr>
            <a:r>
              <a:t>Sampling can use temperature, top-k, top-p and other decoding controls.</a:t>
            </a:r>
          </a:p>
          <a:p>
            <a:pPr>
              <a:spcAft>
                <a:spcPts val="1000"/>
              </a:spcAft>
              <a:defRPr sz="1800">
                <a:solidFill>
                  <a:srgbClr val="EEF5FA"/>
                </a:solidFill>
              </a:defRPr>
            </a:pPr>
            <a:r>
              <a:t>The chosen token is appended to the context, then the model runs again to predict the next token.</a:t>
            </a:r>
          </a:p>
        </p:txBody>
      </p:sp>
      <p:sp>
        <p:nvSpPr>
          <p:cNvPr id="4" name="Rounded Rectangle 3"/>
          <p:cNvSpPr/>
          <p:nvPr/>
        </p:nvSpPr>
        <p:spPr>
          <a:xfrm>
            <a:off x="6949440" y="1463040"/>
            <a:ext cx="4114800" cy="33832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Illustrative probabilities</a:t>
            </a:r>
          </a:p>
          <a:p>
            <a:pPr>
              <a:spcBef>
                <a:spcPts val="500"/>
              </a:spcBef>
              <a:defRPr sz="1200">
                <a:solidFill>
                  <a:srgbClr val="EEF5FA"/>
                </a:solidFill>
              </a:defRPr>
            </a:pPr>
            <a:r>
              <a:t>on       0.52</a:t>
            </a:r>
            <a:br/>
            <a:r>
              <a:t>mat      0.21</a:t>
            </a:r>
            <a:br/>
            <a:r>
              <a:t>floor    0.11</a:t>
            </a:r>
            <a:br/>
            <a:r>
              <a:t>chair    0.04</a:t>
            </a:r>
            <a:br/>
            <a:r>
              <a:t>…        …</a:t>
            </a:r>
          </a:p>
        </p:txBody>
      </p:sp>
      <p:sp>
        <p:nvSpPr>
          <p:cNvPr id="5" name="Rounded Rectangle 4"/>
          <p:cNvSpPr/>
          <p:nvPr/>
        </p:nvSpPr>
        <p:spPr>
          <a:xfrm>
            <a:off x="6949440" y="5120640"/>
            <a:ext cx="4114800" cy="64008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Selected next token</a:t>
            </a:r>
          </a:p>
          <a:p>
            <a:pPr>
              <a:spcBef>
                <a:spcPts val="500"/>
              </a:spcBef>
              <a:defRPr sz="1200">
                <a:solidFill>
                  <a:srgbClr val="EEF5FA"/>
                </a:solidFill>
              </a:defRPr>
            </a:pPr>
            <a:r>
              <a:t>“on”</a:t>
            </a:r>
          </a:p>
        </p:txBody>
      </p:sp>
      <p:sp>
        <p:nvSpPr>
          <p:cNvPr id="6" name="TextBox 5"/>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Inference vs Training — Do Not Mix Them Up</a:t>
            </a:r>
          </a:p>
        </p:txBody>
      </p:sp>
      <p:sp>
        <p:nvSpPr>
          <p:cNvPr id="3" name="Rounded Rectangle 2"/>
          <p:cNvSpPr/>
          <p:nvPr/>
        </p:nvSpPr>
        <p:spPr>
          <a:xfrm>
            <a:off x="731520" y="1554480"/>
            <a:ext cx="5212080" cy="402336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INFERENCE</a:t>
            </a:r>
          </a:p>
          <a:p>
            <a:pPr>
              <a:spcBef>
                <a:spcPts val="500"/>
              </a:spcBef>
              <a:defRPr sz="1200">
                <a:solidFill>
                  <a:srgbClr val="EEF5FA"/>
                </a:solidFill>
              </a:defRPr>
            </a:pPr>
            <a:r>
              <a:t>Input → tokenize → embeddings → Transformer layers → logits → probabilities → choose token → append → repeat</a:t>
            </a:r>
            <a:br/>
            <a:br/>
            <a:r>
              <a:t>Weights are read, not updated.</a:t>
            </a:r>
            <a:br/>
            <a:r>
              <a:t>No target token is required.</a:t>
            </a:r>
            <a:br/>
            <a:r>
              <a:t>No backpropagation is normally performed.</a:t>
            </a:r>
          </a:p>
        </p:txBody>
      </p:sp>
      <p:sp>
        <p:nvSpPr>
          <p:cNvPr id="4" name="Rounded Rectangle 3"/>
          <p:cNvSpPr/>
          <p:nvPr/>
        </p:nvSpPr>
        <p:spPr>
          <a:xfrm>
            <a:off x="6217920" y="1554480"/>
            <a:ext cx="5212080" cy="402336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TRAINING</a:t>
            </a:r>
          </a:p>
          <a:p>
            <a:pPr>
              <a:spcBef>
                <a:spcPts val="500"/>
              </a:spcBef>
              <a:defRPr sz="1200">
                <a:solidFill>
                  <a:srgbClr val="EEF5FA"/>
                </a:solidFill>
              </a:defRPr>
            </a:pPr>
            <a:r>
              <a:t>Training tokens → forward pass → logits → compare with known target tokens → loss → backpropagation → gradients → optimizer step</a:t>
            </a:r>
            <a:br/>
            <a:br/>
            <a:r>
              <a:t>Weights are updated repeatedly.</a:t>
            </a:r>
          </a:p>
        </p:txBody>
      </p:sp>
      <p:sp>
        <p:nvSpPr>
          <p:cNvPr id="5" name="TextBox 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Training Data: The Target Is the Next Token</a:t>
            </a:r>
          </a:p>
        </p:txBody>
      </p:sp>
      <p:sp>
        <p:nvSpPr>
          <p:cNvPr id="3" name="TextBox 2"/>
          <p:cNvSpPr txBox="1"/>
          <p:nvPr/>
        </p:nvSpPr>
        <p:spPr>
          <a:xfrm>
            <a:off x="731520" y="1417320"/>
            <a:ext cx="10607040" cy="3291840"/>
          </a:xfrm>
          <a:prstGeom prst="rect">
            <a:avLst/>
          </a:prstGeom>
          <a:noFill/>
        </p:spPr>
        <p:txBody>
          <a:bodyPr wrap="none">
            <a:spAutoFit/>
          </a:bodyPr>
          <a:lstStyle/>
          <a:p>
            <a:pPr>
              <a:spcAft>
                <a:spcPts val="1000"/>
              </a:spcAft>
              <a:defRPr sz="1800">
                <a:solidFill>
                  <a:srgbClr val="EEF5FA"/>
                </a:solidFill>
              </a:defRPr>
            </a:pPr>
            <a:r>
              <a:t>For autoregressive pretraining, the text itself supplies supervision by shifting the sequence.</a:t>
            </a:r>
          </a:p>
          <a:p>
            <a:pPr>
              <a:spcAft>
                <a:spcPts val="1000"/>
              </a:spcAft>
              <a:defRPr sz="1800">
                <a:solidFill>
                  <a:srgbClr val="EEF5FA"/>
                </a:solidFill>
              </a:defRPr>
            </a:pPr>
            <a:r>
              <a:t>Input positions:   The | cat | sat | on</a:t>
            </a:r>
          </a:p>
          <a:p>
            <a:pPr>
              <a:spcAft>
                <a:spcPts val="1000"/>
              </a:spcAft>
              <a:defRPr sz="1800">
                <a:solidFill>
                  <a:srgbClr val="EEF5FA"/>
                </a:solidFill>
              </a:defRPr>
            </a:pPr>
            <a:r>
              <a:t>Target positions:  cat | sat | on  | the</a:t>
            </a:r>
          </a:p>
          <a:p>
            <a:pPr>
              <a:spcAft>
                <a:spcPts val="1000"/>
              </a:spcAft>
              <a:defRPr sz="1800">
                <a:solidFill>
                  <a:srgbClr val="EEF5FA"/>
                </a:solidFill>
              </a:defRPr>
            </a:pPr>
            <a:r>
              <a:t>The model predicts a distribution at every eligible position.</a:t>
            </a:r>
          </a:p>
          <a:p>
            <a:pPr>
              <a:spcAft>
                <a:spcPts val="1000"/>
              </a:spcAft>
              <a:defRPr sz="1800">
                <a:solidFill>
                  <a:srgbClr val="EEF5FA"/>
                </a:solidFill>
              </a:defRPr>
            </a:pPr>
            <a:r>
              <a:t>Cross-entropy rewards probability assigned to the actual next token.</a:t>
            </a:r>
          </a:p>
        </p:txBody>
      </p:sp>
      <p:sp>
        <p:nvSpPr>
          <p:cNvPr id="4" name="Rounded Rectangle 3"/>
          <p:cNvSpPr/>
          <p:nvPr/>
        </p:nvSpPr>
        <p:spPr>
          <a:xfrm>
            <a:off x="1828800" y="4754880"/>
            <a:ext cx="8412480" cy="91440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Teacher forcing</a:t>
            </a:r>
          </a:p>
          <a:p>
            <a:pPr>
              <a:spcBef>
                <a:spcPts val="500"/>
              </a:spcBef>
              <a:defRPr sz="1200">
                <a:solidFill>
                  <a:srgbClr val="EEF5FA"/>
                </a:solidFill>
              </a:defRPr>
            </a:pPr>
            <a:r>
              <a:t>The correct previous tokens are supplied during training; the loss evaluates next-token predictions.</a:t>
            </a:r>
          </a:p>
        </p:txBody>
      </p:sp>
      <p:sp>
        <p:nvSpPr>
          <p:cNvPr id="5" name="TextBox 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Loss — How Wrong Was the Prediction?</a:t>
            </a:r>
          </a:p>
        </p:txBody>
      </p:sp>
      <p:sp>
        <p:nvSpPr>
          <p:cNvPr id="3" name="TextBox 2"/>
          <p:cNvSpPr txBox="1"/>
          <p:nvPr/>
        </p:nvSpPr>
        <p:spPr>
          <a:xfrm>
            <a:off x="731520" y="1371600"/>
            <a:ext cx="5760720" cy="4389120"/>
          </a:xfrm>
          <a:prstGeom prst="rect">
            <a:avLst/>
          </a:prstGeom>
          <a:noFill/>
        </p:spPr>
        <p:txBody>
          <a:bodyPr wrap="none">
            <a:spAutoFit/>
          </a:bodyPr>
          <a:lstStyle/>
          <a:p>
            <a:pPr>
              <a:spcAft>
                <a:spcPts val="1000"/>
              </a:spcAft>
              <a:defRPr sz="1800">
                <a:solidFill>
                  <a:srgbClr val="EEF5FA"/>
                </a:solidFill>
              </a:defRPr>
            </a:pPr>
            <a:r>
              <a:t>For one target token y, cross-entropy can be written as L = −log P(y).</a:t>
            </a:r>
          </a:p>
          <a:p>
            <a:pPr>
              <a:spcAft>
                <a:spcPts val="1000"/>
              </a:spcAft>
              <a:defRPr sz="1800">
                <a:solidFill>
                  <a:srgbClr val="EEF5FA"/>
                </a:solidFill>
              </a:defRPr>
            </a:pPr>
            <a:r>
              <a:t>If the model assigns high probability to the correct token, loss is small.</a:t>
            </a:r>
          </a:p>
          <a:p>
            <a:pPr>
              <a:spcAft>
                <a:spcPts val="1000"/>
              </a:spcAft>
              <a:defRPr sz="1800">
                <a:solidFill>
                  <a:srgbClr val="EEF5FA"/>
                </a:solidFill>
              </a:defRPr>
            </a:pPr>
            <a:r>
              <a:t>If it assigns low probability, loss is large.</a:t>
            </a:r>
          </a:p>
          <a:p>
            <a:pPr>
              <a:spcAft>
                <a:spcPts val="1000"/>
              </a:spcAft>
              <a:defRPr sz="1800">
                <a:solidFill>
                  <a:srgbClr val="EEF5FA"/>
                </a:solidFill>
              </a:defRPr>
            </a:pPr>
            <a:r>
              <a:t>Training usually averages/sums losses across many token positions and examples in a batch.</a:t>
            </a:r>
          </a:p>
        </p:txBody>
      </p:sp>
      <p:sp>
        <p:nvSpPr>
          <p:cNvPr id="4" name="Rounded Rectangle 3"/>
          <p:cNvSpPr/>
          <p:nvPr/>
        </p:nvSpPr>
        <p:spPr>
          <a:xfrm>
            <a:off x="7040880" y="1645920"/>
            <a:ext cx="4023360" cy="91440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Correct token = “cat”</a:t>
            </a:r>
          </a:p>
          <a:p>
            <a:pPr>
              <a:spcBef>
                <a:spcPts val="500"/>
              </a:spcBef>
              <a:defRPr sz="1200">
                <a:solidFill>
                  <a:srgbClr val="EEF5FA"/>
                </a:solidFill>
              </a:defRPr>
            </a:pPr>
            <a:r>
              <a:t>P(cat)=0.80 → low loss</a:t>
            </a:r>
          </a:p>
        </p:txBody>
      </p:sp>
      <p:sp>
        <p:nvSpPr>
          <p:cNvPr id="5" name="Rounded Rectangle 4"/>
          <p:cNvSpPr/>
          <p:nvPr/>
        </p:nvSpPr>
        <p:spPr>
          <a:xfrm>
            <a:off x="7040880" y="2926080"/>
            <a:ext cx="4023360" cy="914400"/>
          </a:xfrm>
          <a:prstGeom prst="roundRect">
            <a:avLst/>
          </a:prstGeom>
          <a:solidFill>
            <a:srgbClr val="112337"/>
          </a:solidFill>
          <a:ln>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7185"/>
                </a:solidFill>
              </a:defRPr>
            </a:pPr>
            <a:r>
              <a:t>Correct token = “cat”</a:t>
            </a:r>
          </a:p>
          <a:p>
            <a:pPr>
              <a:spcBef>
                <a:spcPts val="500"/>
              </a:spcBef>
              <a:defRPr sz="1200">
                <a:solidFill>
                  <a:srgbClr val="EEF5FA"/>
                </a:solidFill>
              </a:defRPr>
            </a:pPr>
            <a:r>
              <a:t>P(cat)=0.02 → high loss</a:t>
            </a:r>
          </a:p>
        </p:txBody>
      </p:sp>
      <p:sp>
        <p:nvSpPr>
          <p:cNvPr id="6" name="Rounded Rectangle 5"/>
          <p:cNvSpPr/>
          <p:nvPr/>
        </p:nvSpPr>
        <p:spPr>
          <a:xfrm>
            <a:off x="7040880" y="4389120"/>
            <a:ext cx="4023360" cy="91440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Loss is a scalar</a:t>
            </a:r>
          </a:p>
          <a:p>
            <a:pPr>
              <a:spcBef>
                <a:spcPts val="500"/>
              </a:spcBef>
              <a:defRPr sz="1200">
                <a:solidFill>
                  <a:srgbClr val="EEF5FA"/>
                </a:solidFill>
              </a:defRPr>
            </a:pPr>
            <a:r>
              <a:t>the starting point for backpropagation</a:t>
            </a:r>
          </a:p>
        </p:txBody>
      </p:sp>
      <p:sp>
        <p:nvSpPr>
          <p:cNvPr id="7" name="TextBox 6"/>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Backpropagation — When Does It Happen?</a:t>
            </a:r>
          </a:p>
        </p:txBody>
      </p:sp>
      <p:sp>
        <p:nvSpPr>
          <p:cNvPr id="3" name="TextBox 2"/>
          <p:cNvSpPr txBox="1"/>
          <p:nvPr/>
        </p:nvSpPr>
        <p:spPr>
          <a:xfrm>
            <a:off x="731520" y="1325880"/>
            <a:ext cx="6400800" cy="4754880"/>
          </a:xfrm>
          <a:prstGeom prst="rect">
            <a:avLst/>
          </a:prstGeom>
          <a:noFill/>
        </p:spPr>
        <p:txBody>
          <a:bodyPr wrap="none">
            <a:spAutoFit/>
          </a:bodyPr>
          <a:lstStyle/>
          <a:p>
            <a:pPr>
              <a:spcAft>
                <a:spcPts val="1000"/>
              </a:spcAft>
              <a:defRPr sz="1700">
                <a:solidFill>
                  <a:srgbClr val="EEF5FA"/>
                </a:solidFill>
              </a:defRPr>
            </a:pPr>
            <a:r>
              <a:t>Backpropagation happens after the forward pass has produced predictions and the training loss has been computed.</a:t>
            </a:r>
          </a:p>
          <a:p>
            <a:pPr>
              <a:spcAft>
                <a:spcPts val="1000"/>
              </a:spcAft>
              <a:defRPr sz="1700">
                <a:solidFill>
                  <a:srgbClr val="EEF5FA"/>
                </a:solidFill>
              </a:defRPr>
            </a:pPr>
            <a:r>
              <a:t>Automatic differentiation applies the chain rule backward through the computation graph.</a:t>
            </a:r>
          </a:p>
          <a:p>
            <a:pPr>
              <a:spcAft>
                <a:spcPts val="1000"/>
              </a:spcAft>
              <a:defRPr sz="1700">
                <a:solidFill>
                  <a:srgbClr val="EEF5FA"/>
                </a:solidFill>
              </a:defRPr>
            </a:pPr>
            <a:r>
              <a:t>It computes gradients such as ∂L/∂WQ, ∂L/∂WK, ∂L/∂WV, ∂L/∂WMLP, ∂L/∂E, etc.</a:t>
            </a:r>
          </a:p>
          <a:p>
            <a:pPr>
              <a:spcAft>
                <a:spcPts val="1000"/>
              </a:spcAft>
              <a:defRPr sz="1700">
                <a:solidFill>
                  <a:srgbClr val="EEF5FA"/>
                </a:solidFill>
              </a:defRPr>
            </a:pPr>
            <a:r>
              <a:t>A gradient tells how a small change in a parameter would locally change the loss.</a:t>
            </a:r>
          </a:p>
        </p:txBody>
      </p:sp>
      <p:sp>
        <p:nvSpPr>
          <p:cNvPr id="4" name="Rounded Rectangle 3"/>
          <p:cNvSpPr/>
          <p:nvPr/>
        </p:nvSpPr>
        <p:spPr>
          <a:xfrm>
            <a:off x="7498079" y="1554480"/>
            <a:ext cx="3383280" cy="731520"/>
          </a:xfrm>
          <a:prstGeom prst="roundRect">
            <a:avLst/>
          </a:prstGeom>
          <a:solidFill>
            <a:srgbClr val="112337"/>
          </a:solidFill>
          <a:ln>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7185"/>
                </a:solidFill>
              </a:defRPr>
            </a:pPr>
            <a:r>
              <a:t>Loss L</a:t>
            </a:r>
          </a:p>
          <a:p>
            <a:pPr>
              <a:spcBef>
                <a:spcPts val="500"/>
              </a:spcBef>
              <a:defRPr sz="1200">
                <a:solidFill>
                  <a:srgbClr val="EEF5FA"/>
                </a:solidFill>
              </a:defRPr>
            </a:pPr>
            <a:r>
              <a:t>start backward</a:t>
            </a:r>
          </a:p>
        </p:txBody>
      </p:sp>
      <p:sp>
        <p:nvSpPr>
          <p:cNvPr id="5" name="Rounded Rectangle 4"/>
          <p:cNvSpPr/>
          <p:nvPr/>
        </p:nvSpPr>
        <p:spPr>
          <a:xfrm>
            <a:off x="7498079" y="2651760"/>
            <a:ext cx="3383280" cy="731520"/>
          </a:xfrm>
          <a:prstGeom prst="roundRect">
            <a:avLst/>
          </a:prstGeom>
          <a:solidFill>
            <a:srgbClr val="112337"/>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FBBF24"/>
                </a:solidFill>
              </a:defRPr>
            </a:pPr>
            <a:r>
              <a:t>Output projection</a:t>
            </a:r>
          </a:p>
          <a:p>
            <a:pPr>
              <a:spcBef>
                <a:spcPts val="500"/>
              </a:spcBef>
              <a:defRPr sz="1200">
                <a:solidFill>
                  <a:srgbClr val="EEF5FA"/>
                </a:solidFill>
              </a:defRPr>
            </a:pPr>
            <a:r>
              <a:t>gradients</a:t>
            </a:r>
          </a:p>
        </p:txBody>
      </p:sp>
      <p:sp>
        <p:nvSpPr>
          <p:cNvPr id="6" name="Rounded Rectangle 5"/>
          <p:cNvSpPr/>
          <p:nvPr/>
        </p:nvSpPr>
        <p:spPr>
          <a:xfrm>
            <a:off x="7498079" y="3749039"/>
            <a:ext cx="3383280" cy="73152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Transformer blocks</a:t>
            </a:r>
          </a:p>
          <a:p>
            <a:pPr>
              <a:spcBef>
                <a:spcPts val="500"/>
              </a:spcBef>
              <a:defRPr sz="1200">
                <a:solidFill>
                  <a:srgbClr val="EEF5FA"/>
                </a:solidFill>
              </a:defRPr>
            </a:pPr>
            <a:r>
              <a:t>gradients</a:t>
            </a:r>
          </a:p>
        </p:txBody>
      </p:sp>
      <p:sp>
        <p:nvSpPr>
          <p:cNvPr id="7" name="Rounded Rectangle 6"/>
          <p:cNvSpPr/>
          <p:nvPr/>
        </p:nvSpPr>
        <p:spPr>
          <a:xfrm>
            <a:off x="7498079" y="4846320"/>
            <a:ext cx="3383280" cy="73152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Embeddings</a:t>
            </a:r>
          </a:p>
          <a:p>
            <a:pPr>
              <a:spcBef>
                <a:spcPts val="500"/>
              </a:spcBef>
              <a:defRPr sz="1200">
                <a:solidFill>
                  <a:srgbClr val="EEF5FA"/>
                </a:solidFill>
              </a:defRPr>
            </a:pPr>
            <a:r>
              <a:t>gradients</a:t>
            </a:r>
          </a:p>
        </p:txBody>
      </p:sp>
      <p:sp>
        <p:nvSpPr>
          <p:cNvPr id="8" name="TextBox 7"/>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Gradient Descent / Optimizer — When Weights Change</a:t>
            </a:r>
          </a:p>
        </p:txBody>
      </p:sp>
      <p:sp>
        <p:nvSpPr>
          <p:cNvPr id="3" name="TextBox 2"/>
          <p:cNvSpPr txBox="1"/>
          <p:nvPr/>
        </p:nvSpPr>
        <p:spPr>
          <a:xfrm>
            <a:off x="731520" y="1371600"/>
            <a:ext cx="10607040" cy="4206240"/>
          </a:xfrm>
          <a:prstGeom prst="rect">
            <a:avLst/>
          </a:prstGeom>
          <a:noFill/>
        </p:spPr>
        <p:txBody>
          <a:bodyPr wrap="none">
            <a:spAutoFit/>
          </a:bodyPr>
          <a:lstStyle/>
          <a:p>
            <a:pPr>
              <a:spcAft>
                <a:spcPts val="1000"/>
              </a:spcAft>
              <a:defRPr sz="1700">
                <a:solidFill>
                  <a:srgbClr val="EEF5FA"/>
                </a:solidFill>
              </a:defRPr>
            </a:pPr>
            <a:r>
              <a:t>Backpropagation computes gradients; it does not itself decide the full update rule.</a:t>
            </a:r>
          </a:p>
          <a:p>
            <a:pPr>
              <a:spcAft>
                <a:spcPts val="1000"/>
              </a:spcAft>
              <a:defRPr sz="1700">
                <a:solidFill>
                  <a:srgbClr val="EEF5FA"/>
                </a:solidFill>
              </a:defRPr>
            </a:pPr>
            <a:r>
              <a:t>The optimizer uses those gradients to update parameters. A simple form is W ← W − η∇W L.</a:t>
            </a:r>
          </a:p>
          <a:p>
            <a:pPr>
              <a:spcAft>
                <a:spcPts val="1000"/>
              </a:spcAft>
              <a:defRPr sz="1700">
                <a:solidFill>
                  <a:srgbClr val="EEF5FA"/>
                </a:solidFill>
              </a:defRPr>
            </a:pPr>
            <a:r>
              <a:t>η is the learning rate. Production LLM training commonly uses adaptive optimizers such as Adam/AdamW variants.</a:t>
            </a:r>
          </a:p>
          <a:p>
            <a:pPr>
              <a:spcAft>
                <a:spcPts val="1000"/>
              </a:spcAft>
              <a:defRPr sz="1700">
                <a:solidFill>
                  <a:srgbClr val="EEF5FA"/>
                </a:solidFill>
              </a:defRPr>
            </a:pPr>
            <a:r>
              <a:t>One optimizer step may follow one batch or multiple micro-batches when gradient accumulation is used.</a:t>
            </a:r>
          </a:p>
          <a:p>
            <a:pPr>
              <a:spcAft>
                <a:spcPts val="1000"/>
              </a:spcAft>
              <a:defRPr sz="1700">
                <a:solidFill>
                  <a:srgbClr val="EEF5FA"/>
                </a:solidFill>
              </a:defRPr>
            </a:pPr>
            <a:r>
              <a:t>Then the next training iteration performs another forward pass using the updated weights.</a:t>
            </a:r>
          </a:p>
        </p:txBody>
      </p:sp>
      <p:sp>
        <p:nvSpPr>
          <p:cNvPr id="4" name="Rounded Rectangle 3"/>
          <p:cNvSpPr/>
          <p:nvPr/>
        </p:nvSpPr>
        <p:spPr>
          <a:xfrm>
            <a:off x="1920240" y="5486400"/>
            <a:ext cx="8229600" cy="64008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Training loop</a:t>
            </a:r>
          </a:p>
          <a:p>
            <a:pPr>
              <a:spcBef>
                <a:spcPts val="500"/>
              </a:spcBef>
              <a:defRPr sz="1200">
                <a:solidFill>
                  <a:srgbClr val="EEF5FA"/>
                </a:solidFill>
              </a:defRPr>
            </a:pPr>
            <a:r>
              <a:t>Forward → Loss → Backward → Gradients → Optimizer step → Updated weights → Repeat</a:t>
            </a:r>
          </a:p>
        </p:txBody>
      </p:sp>
      <p:sp>
        <p:nvSpPr>
          <p:cNvPr id="5" name="TextBox 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When Are Weights Set Up?</a:t>
            </a:r>
          </a:p>
        </p:txBody>
      </p:sp>
      <p:sp>
        <p:nvSpPr>
          <p:cNvPr id="3" name="TextBox 2"/>
          <p:cNvSpPr txBox="1"/>
          <p:nvPr/>
        </p:nvSpPr>
        <p:spPr>
          <a:xfrm>
            <a:off x="731520" y="1371600"/>
            <a:ext cx="10607040" cy="4480560"/>
          </a:xfrm>
          <a:prstGeom prst="rect">
            <a:avLst/>
          </a:prstGeom>
          <a:noFill/>
        </p:spPr>
        <p:txBody>
          <a:bodyPr wrap="none">
            <a:spAutoFit/>
          </a:bodyPr>
          <a:lstStyle/>
          <a:p>
            <a:pPr>
              <a:spcAft>
                <a:spcPts val="1000"/>
              </a:spcAft>
              <a:defRPr sz="1800">
                <a:solidFill>
                  <a:srgbClr val="EEF5FA"/>
                </a:solidFill>
              </a:defRPr>
            </a:pPr>
            <a:r>
              <a:t>1. Model architecture defines every parameter tensor and its shape.</a:t>
            </a:r>
          </a:p>
          <a:p>
            <a:pPr>
              <a:spcAft>
                <a:spcPts val="1000"/>
              </a:spcAft>
              <a:defRPr sz="1800">
                <a:solidFill>
                  <a:srgbClr val="EEF5FA"/>
                </a:solidFill>
              </a:defRPr>
            </a:pPr>
            <a:r>
              <a:t>2. At initialization, trainable matrices receive initial values; embeddings and projection matrices are created here.</a:t>
            </a:r>
          </a:p>
          <a:p>
            <a:pPr>
              <a:spcAft>
                <a:spcPts val="1000"/>
              </a:spcAft>
              <a:defRPr sz="1800">
                <a:solidFill>
                  <a:srgbClr val="EEF5FA"/>
                </a:solidFill>
              </a:defRPr>
            </a:pPr>
            <a:r>
              <a:t>3. During pretraining, optimizer steps modify them over huge numbers of token examples.</a:t>
            </a:r>
          </a:p>
          <a:p>
            <a:pPr>
              <a:spcAft>
                <a:spcPts val="1000"/>
              </a:spcAft>
              <a:defRPr sz="1800">
                <a:solidFill>
                  <a:srgbClr val="EEF5FA"/>
                </a:solidFill>
              </a:defRPr>
            </a:pPr>
            <a:r>
              <a:t>4. Fine-tuning/post-training may modify some or all weights further, depending on method.</a:t>
            </a:r>
          </a:p>
          <a:p>
            <a:pPr>
              <a:spcAft>
                <a:spcPts val="1000"/>
              </a:spcAft>
              <a:defRPr sz="1800">
                <a:solidFill>
                  <a:srgbClr val="EEF5FA"/>
                </a:solidFill>
              </a:defRPr>
            </a:pPr>
            <a:r>
              <a:t>5. At inference, the final checkpoint weights are loaded and normally remain fixed while activations/Q/K/V are generated dynamically.</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Parameters vs Activations — A Critical Distinction</a:t>
            </a:r>
          </a:p>
        </p:txBody>
      </p:sp>
      <p:sp>
        <p:nvSpPr>
          <p:cNvPr id="3" name="Rounded Rectangle 2"/>
          <p:cNvSpPr/>
          <p:nvPr/>
        </p:nvSpPr>
        <p:spPr>
          <a:xfrm>
            <a:off x="731520" y="1554480"/>
            <a:ext cx="5212080" cy="420624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PERSISTENT PARAMETERS</a:t>
            </a:r>
          </a:p>
          <a:p>
            <a:pPr>
              <a:spcBef>
                <a:spcPts val="500"/>
              </a:spcBef>
              <a:defRPr sz="1200">
                <a:solidFill>
                  <a:srgbClr val="EEF5FA"/>
                </a:solidFill>
              </a:defRPr>
            </a:pPr>
            <a:r>
              <a:t>Embedding matrix E</a:t>
            </a:r>
            <a:br/>
            <a:r>
              <a:t>WQ, WK, WV, WO</a:t>
            </a:r>
            <a:br/>
            <a:r>
              <a:t>MLP matrices</a:t>
            </a:r>
            <a:br/>
            <a:r>
              <a:t>Normalization parameters</a:t>
            </a:r>
            <a:br/>
            <a:r>
              <a:t>Output projection</a:t>
            </a:r>
            <a:br/>
            <a:br/>
            <a:r>
              <a:t>Saved in model checkpoints.</a:t>
            </a:r>
            <a:br/>
            <a:r>
              <a:t>Learned during training.</a:t>
            </a:r>
          </a:p>
        </p:txBody>
      </p:sp>
      <p:sp>
        <p:nvSpPr>
          <p:cNvPr id="4" name="Rounded Rectangle 3"/>
          <p:cNvSpPr/>
          <p:nvPr/>
        </p:nvSpPr>
        <p:spPr>
          <a:xfrm>
            <a:off x="6217920" y="1554480"/>
            <a:ext cx="5212080" cy="420624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RUNTIME ACTIVATIONS</a:t>
            </a:r>
          </a:p>
          <a:p>
            <a:pPr>
              <a:spcBef>
                <a:spcPts val="500"/>
              </a:spcBef>
              <a:defRPr sz="1200">
                <a:solidFill>
                  <a:srgbClr val="EEF5FA"/>
                </a:solidFill>
              </a:defRPr>
            </a:pPr>
            <a:r>
              <a:t>Token embeddings for this input</a:t>
            </a:r>
            <a:br/>
            <a:r>
              <a:t>Q, K, V for this input</a:t>
            </a:r>
            <a:br/>
            <a:r>
              <a:t>Attention scores/weights</a:t>
            </a:r>
            <a:br/>
            <a:r>
              <a:t>Hidden states</a:t>
            </a:r>
            <a:br/>
            <a:r>
              <a:t>Logits/probabilities</a:t>
            </a:r>
            <a:br/>
            <a:br/>
            <a:r>
              <a:t>Created during forward execution.</a:t>
            </a:r>
            <a:br/>
            <a:r>
              <a:t>Depend on current input/context.</a:t>
            </a:r>
          </a:p>
        </p:txBody>
      </p:sp>
      <p:sp>
        <p:nvSpPr>
          <p:cNvPr id="5" name="TextBox 4"/>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Software + Hardware View</a:t>
            </a:r>
          </a:p>
        </p:txBody>
      </p:sp>
      <p:sp>
        <p:nvSpPr>
          <p:cNvPr id="3" name="TextBox 2"/>
          <p:cNvSpPr txBox="1"/>
          <p:nvPr/>
        </p:nvSpPr>
        <p:spPr>
          <a:xfrm>
            <a:off x="731520" y="1371600"/>
            <a:ext cx="10607040" cy="4389120"/>
          </a:xfrm>
          <a:prstGeom prst="rect">
            <a:avLst/>
          </a:prstGeom>
          <a:noFill/>
        </p:spPr>
        <p:txBody>
          <a:bodyPr wrap="none">
            <a:spAutoFit/>
          </a:bodyPr>
          <a:lstStyle/>
          <a:p>
            <a:pPr>
              <a:spcAft>
                <a:spcPts val="1000"/>
              </a:spcAft>
              <a:defRPr sz="1700">
                <a:solidFill>
                  <a:srgbClr val="EEF5FA"/>
                </a:solidFill>
              </a:defRPr>
            </a:pPr>
            <a:r>
              <a:t>Tokenizer software converts text to IDs on CPU or accelerator-aware input pipeline.</a:t>
            </a:r>
          </a:p>
          <a:p>
            <a:pPr>
              <a:spcAft>
                <a:spcPts val="1000"/>
              </a:spcAft>
              <a:defRPr sz="1700">
                <a:solidFill>
                  <a:srgbClr val="EEF5FA"/>
                </a:solidFill>
              </a:defRPr>
            </a:pPr>
            <a:r>
              <a:t>Framework/runtime builds tensor operations: embedding lookup, matrix multiplication, normalization, softmax, activations.</a:t>
            </a:r>
          </a:p>
          <a:p>
            <a:pPr>
              <a:spcAft>
                <a:spcPts val="1000"/>
              </a:spcAft>
              <a:defRPr sz="1700">
                <a:solidFill>
                  <a:srgbClr val="EEF5FA"/>
                </a:solidFill>
              </a:defRPr>
            </a:pPr>
            <a:r>
              <a:t>GPU/TPU kernels execute highly parallel tensor operations; matrix multiplication is central.</a:t>
            </a:r>
          </a:p>
          <a:p>
            <a:pPr>
              <a:spcAft>
                <a:spcPts val="1000"/>
              </a:spcAft>
              <a:defRPr sz="1700">
                <a:solidFill>
                  <a:srgbClr val="EEF5FA"/>
                </a:solidFill>
              </a:defRPr>
            </a:pPr>
            <a:r>
              <a:t>During training, frameworks retain/recompute information needed for gradients, then autograd executes backward kernels.</a:t>
            </a:r>
          </a:p>
          <a:p>
            <a:pPr>
              <a:spcAft>
                <a:spcPts val="1000"/>
              </a:spcAft>
              <a:defRPr sz="1700">
                <a:solidFill>
                  <a:srgbClr val="EEF5FA"/>
                </a:solidFill>
              </a:defRPr>
            </a:pPr>
            <a:r>
              <a:t>During inference, KV cache can store previous layers' K/V tensors so generation does not recompute the entire past at every token.</a:t>
            </a:r>
          </a:p>
        </p:txBody>
      </p:sp>
      <p:sp>
        <p:nvSpPr>
          <p:cNvPr id="4" name="Rounded Rectangle 3"/>
          <p:cNvSpPr/>
          <p:nvPr/>
        </p:nvSpPr>
        <p:spPr>
          <a:xfrm>
            <a:off x="1005840" y="5486400"/>
            <a:ext cx="2194560" cy="640080"/>
          </a:xfrm>
          <a:prstGeom prst="roundRect">
            <a:avLst/>
          </a:prstGeom>
          <a:solidFill>
            <a:srgbClr val="112337"/>
          </a:solidFill>
          <a:ln>
            <a:solidFill>
              <a:srgbClr val="4A9EFF"/>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4A9EFF"/>
                </a:solidFill>
              </a:defRPr>
            </a:pPr>
            <a:r>
              <a:t>Python/API</a:t>
            </a:r>
          </a:p>
          <a:p>
            <a:pPr>
              <a:spcBef>
                <a:spcPts val="500"/>
              </a:spcBef>
              <a:defRPr sz="1200">
                <a:solidFill>
                  <a:srgbClr val="EEF5FA"/>
                </a:solidFill>
              </a:defRPr>
            </a:pPr>
            <a:r>
              <a:t>model call</a:t>
            </a:r>
          </a:p>
        </p:txBody>
      </p:sp>
      <p:sp>
        <p:nvSpPr>
          <p:cNvPr id="5" name="Right Arrow 4"/>
          <p:cNvSpPr/>
          <p:nvPr/>
        </p:nvSpPr>
        <p:spPr>
          <a:xfrm>
            <a:off x="3383280" y="5687568"/>
            <a:ext cx="54864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0" y="5486400"/>
            <a:ext cx="2926080" cy="640080"/>
          </a:xfrm>
          <a:prstGeom prst="roundRect">
            <a:avLst/>
          </a:prstGeom>
          <a:solidFill>
            <a:srgbClr val="112337"/>
          </a:solidFill>
          <a:ln>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C084FC"/>
                </a:solidFill>
              </a:defRPr>
            </a:pPr>
            <a:r>
              <a:t>Tensor runtime</a:t>
            </a:r>
          </a:p>
          <a:p>
            <a:pPr>
              <a:spcBef>
                <a:spcPts val="500"/>
              </a:spcBef>
              <a:defRPr sz="1200">
                <a:solidFill>
                  <a:srgbClr val="EEF5FA"/>
                </a:solidFill>
              </a:defRPr>
            </a:pPr>
            <a:r>
              <a:t>ops + kernels</a:t>
            </a:r>
          </a:p>
        </p:txBody>
      </p:sp>
      <p:sp>
        <p:nvSpPr>
          <p:cNvPr id="7" name="Right Arrow 6"/>
          <p:cNvSpPr/>
          <p:nvPr/>
        </p:nvSpPr>
        <p:spPr>
          <a:xfrm>
            <a:off x="7223760" y="5687568"/>
            <a:ext cx="548640" cy="201168"/>
          </a:xfrm>
          <a:prstGeom prst="rightArrow">
            <a:avLst/>
          </a:prstGeom>
          <a:solidFill>
            <a:srgbClr val="4A9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955279" y="5486400"/>
            <a:ext cx="3108960" cy="640080"/>
          </a:xfrm>
          <a:prstGeom prst="roundRect">
            <a:avLst/>
          </a:prstGeom>
          <a:solidFill>
            <a:srgbClr val="112337"/>
          </a:solidFill>
          <a:ln>
            <a:solidFill>
              <a:srgbClr val="36D399"/>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defRPr b="1" sz="1600">
                <a:solidFill>
                  <a:srgbClr val="36D399"/>
                </a:solidFill>
              </a:defRPr>
            </a:pPr>
            <a:r>
              <a:t>GPU / TPU</a:t>
            </a:r>
          </a:p>
          <a:p>
            <a:pPr>
              <a:spcBef>
                <a:spcPts val="500"/>
              </a:spcBef>
              <a:defRPr sz="1200">
                <a:solidFill>
                  <a:srgbClr val="EEF5FA"/>
                </a:solidFill>
              </a:defRPr>
            </a:pPr>
            <a:r>
              <a:t>parallel math</a:t>
            </a:r>
          </a:p>
        </p:txBody>
      </p:sp>
      <p:sp>
        <p:nvSpPr>
          <p:cNvPr id="9" name="TextBox 8"/>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One Complete Example — “The cat sat on the …”</a:t>
            </a:r>
          </a:p>
        </p:txBody>
      </p:sp>
      <p:sp>
        <p:nvSpPr>
          <p:cNvPr id="3" name="TextBox 2"/>
          <p:cNvSpPr txBox="1"/>
          <p:nvPr/>
        </p:nvSpPr>
        <p:spPr>
          <a:xfrm>
            <a:off x="731520" y="1234440"/>
            <a:ext cx="10698480" cy="5303520"/>
          </a:xfrm>
          <a:prstGeom prst="rect">
            <a:avLst/>
          </a:prstGeom>
          <a:noFill/>
        </p:spPr>
        <p:txBody>
          <a:bodyPr wrap="none">
            <a:spAutoFit/>
          </a:bodyPr>
          <a:lstStyle/>
          <a:p>
            <a:pPr>
              <a:spcAft>
                <a:spcPts val="1000"/>
              </a:spcAft>
              <a:defRPr sz="1700">
                <a:solidFill>
                  <a:srgbClr val="EEF5FA"/>
                </a:solidFill>
              </a:defRPr>
            </a:pPr>
            <a:r>
              <a:t>1  Text arrives</a:t>
            </a:r>
          </a:p>
          <a:p>
            <a:pPr>
              <a:spcAft>
                <a:spcPts val="1000"/>
              </a:spcAft>
              <a:defRPr sz="1700">
                <a:solidFill>
                  <a:srgbClr val="EEF5FA"/>
                </a:solidFill>
              </a:defRPr>
            </a:pPr>
            <a:r>
              <a:t>2  Tokenizer → token IDs</a:t>
            </a:r>
          </a:p>
          <a:p>
            <a:pPr>
              <a:spcAft>
                <a:spcPts val="1000"/>
              </a:spcAft>
              <a:defRPr sz="1700">
                <a:solidFill>
                  <a:srgbClr val="EEF5FA"/>
                </a:solidFill>
              </a:defRPr>
            </a:pPr>
            <a:r>
              <a:t>3  IDs → embedding vectors</a:t>
            </a:r>
          </a:p>
          <a:p>
            <a:pPr>
              <a:spcAft>
                <a:spcPts val="1000"/>
              </a:spcAft>
              <a:defRPr sz="1700">
                <a:solidFill>
                  <a:srgbClr val="EEF5FA"/>
                </a:solidFill>
              </a:defRPr>
            </a:pPr>
            <a:r>
              <a:t>4  Every layer computes Q/K/V projections</a:t>
            </a:r>
          </a:p>
          <a:p>
            <a:pPr>
              <a:spcAft>
                <a:spcPts val="1000"/>
              </a:spcAft>
              <a:defRPr sz="1700">
                <a:solidFill>
                  <a:srgbClr val="EEF5FA"/>
                </a:solidFill>
              </a:defRPr>
            </a:pPr>
            <a:r>
              <a:t>5  QKᵀ + mask + softmax → attention weights</a:t>
            </a:r>
          </a:p>
          <a:p>
            <a:pPr>
              <a:spcAft>
                <a:spcPts val="1000"/>
              </a:spcAft>
              <a:defRPr sz="1700">
                <a:solidFill>
                  <a:srgbClr val="EEF5FA"/>
                </a:solidFill>
              </a:defRPr>
            </a:pPr>
            <a:r>
              <a:t>6  Attention × V → contextual information</a:t>
            </a:r>
          </a:p>
          <a:p>
            <a:pPr>
              <a:spcAft>
                <a:spcPts val="1000"/>
              </a:spcAft>
              <a:defRPr sz="1700">
                <a:solidFill>
                  <a:srgbClr val="EEF5FA"/>
                </a:solidFill>
              </a:defRPr>
            </a:pPr>
            <a:r>
              <a:t>7  MLP + residuals; repeat through layers</a:t>
            </a:r>
          </a:p>
          <a:p>
            <a:pPr>
              <a:spcAft>
                <a:spcPts val="1000"/>
              </a:spcAft>
              <a:defRPr sz="1700">
                <a:solidFill>
                  <a:srgbClr val="EEF5FA"/>
                </a:solidFill>
              </a:defRPr>
            </a:pPr>
            <a:r>
              <a:t>8  Final hidden state → vocabulary logits</a:t>
            </a:r>
          </a:p>
          <a:p>
            <a:pPr>
              <a:spcAft>
                <a:spcPts val="1000"/>
              </a:spcAft>
              <a:defRPr sz="1700">
                <a:solidFill>
                  <a:srgbClr val="EEF5FA"/>
                </a:solidFill>
              </a:defRPr>
            </a:pPr>
            <a:r>
              <a:t>9  Softmax → token probabilities</a:t>
            </a:r>
          </a:p>
          <a:p>
            <a:pPr>
              <a:spcAft>
                <a:spcPts val="1000"/>
              </a:spcAft>
              <a:defRPr sz="1700">
                <a:solidFill>
                  <a:srgbClr val="EEF5FA"/>
                </a:solidFill>
              </a:defRPr>
            </a:pPr>
            <a:r>
              <a:t>10 Select “mat”; append it and continue</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The Same Example During Training</a:t>
            </a:r>
          </a:p>
        </p:txBody>
      </p:sp>
      <p:sp>
        <p:nvSpPr>
          <p:cNvPr id="3" name="TextBox 2"/>
          <p:cNvSpPr txBox="1"/>
          <p:nvPr/>
        </p:nvSpPr>
        <p:spPr>
          <a:xfrm>
            <a:off x="731520" y="1325880"/>
            <a:ext cx="10607040" cy="4937760"/>
          </a:xfrm>
          <a:prstGeom prst="rect">
            <a:avLst/>
          </a:prstGeom>
          <a:noFill/>
        </p:spPr>
        <p:txBody>
          <a:bodyPr wrap="none">
            <a:spAutoFit/>
          </a:bodyPr>
          <a:lstStyle/>
          <a:p>
            <a:pPr>
              <a:spcAft>
                <a:spcPts val="1000"/>
              </a:spcAft>
              <a:defRPr sz="1800">
                <a:solidFill>
                  <a:srgbClr val="EEF5FA"/>
                </a:solidFill>
              </a:defRPr>
            </a:pPr>
            <a:r>
              <a:t>Known training text: “The cat sat on the mat”</a:t>
            </a:r>
          </a:p>
          <a:p>
            <a:pPr>
              <a:spcAft>
                <a:spcPts val="1000"/>
              </a:spcAft>
              <a:defRPr sz="1800">
                <a:solidFill>
                  <a:srgbClr val="EEF5FA"/>
                </a:solidFill>
              </a:defRPr>
            </a:pPr>
            <a:r>
              <a:t>Forward pass predicts next-token distributions at multiple positions.</a:t>
            </a:r>
          </a:p>
          <a:p>
            <a:pPr>
              <a:spcAft>
                <a:spcPts val="1000"/>
              </a:spcAft>
              <a:defRPr sz="1800">
                <a:solidFill>
                  <a:srgbClr val="EEF5FA"/>
                </a:solidFill>
              </a:defRPr>
            </a:pPr>
            <a:r>
              <a:t>At the position after “the”, suppose model gives P(mat)=0.05.</a:t>
            </a:r>
          </a:p>
          <a:p>
            <a:pPr>
              <a:spcAft>
                <a:spcPts val="1000"/>
              </a:spcAft>
              <a:defRPr sz="1800">
                <a:solidFill>
                  <a:srgbClr val="EEF5FA"/>
                </a:solidFill>
              </a:defRPr>
            </a:pPr>
            <a:r>
              <a:t>Cross-entropy produces loss from the known target “mat”.</a:t>
            </a:r>
          </a:p>
          <a:p>
            <a:pPr>
              <a:spcAft>
                <a:spcPts val="1000"/>
              </a:spcAft>
              <a:defRPr sz="1800">
                <a:solidFill>
                  <a:srgbClr val="EEF5FA"/>
                </a:solidFill>
              </a:defRPr>
            </a:pPr>
            <a:r>
              <a:t>Backpropagation computes gradients through output projection → all Transformer blocks → embeddings.</a:t>
            </a:r>
          </a:p>
          <a:p>
            <a:pPr>
              <a:spcAft>
                <a:spcPts val="1000"/>
              </a:spcAft>
              <a:defRPr sz="1800">
                <a:solidFill>
                  <a:srgbClr val="EEF5FA"/>
                </a:solidFill>
              </a:defRPr>
            </a:pPr>
            <a:r>
              <a:t>Optimizer updates trainable matrices, including attention/MLP weights.</a:t>
            </a:r>
          </a:p>
          <a:p>
            <a:pPr>
              <a:spcAft>
                <a:spcPts val="1000"/>
              </a:spcAft>
              <a:defRPr sz="1800">
                <a:solidFill>
                  <a:srgbClr val="EEF5FA"/>
                </a:solidFill>
              </a:defRPr>
            </a:pPr>
            <a:r>
              <a:t>Next batch repeats the cycle with slightly changed parameters.</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Common Misunderstandings to Correct in Training</a:t>
            </a:r>
          </a:p>
        </p:txBody>
      </p:sp>
      <p:sp>
        <p:nvSpPr>
          <p:cNvPr id="3" name="TextBox 2"/>
          <p:cNvSpPr txBox="1"/>
          <p:nvPr/>
        </p:nvSpPr>
        <p:spPr>
          <a:xfrm>
            <a:off x="731520" y="1325880"/>
            <a:ext cx="10607040" cy="4937760"/>
          </a:xfrm>
          <a:prstGeom prst="rect">
            <a:avLst/>
          </a:prstGeom>
          <a:noFill/>
        </p:spPr>
        <p:txBody>
          <a:bodyPr wrap="none">
            <a:spAutoFit/>
          </a:bodyPr>
          <a:lstStyle/>
          <a:p>
            <a:pPr>
              <a:spcAft>
                <a:spcPts val="1000"/>
              </a:spcAft>
              <a:defRPr sz="1700">
                <a:solidFill>
                  <a:srgbClr val="EEF5FA"/>
                </a:solidFill>
              </a:defRPr>
            </a:pPr>
            <a:r>
              <a:t>Q/K/V are not three permanent copies of every word; they are runtime projections of current hidden states.</a:t>
            </a:r>
          </a:p>
          <a:p>
            <a:pPr>
              <a:spcAft>
                <a:spcPts val="1000"/>
              </a:spcAft>
              <a:defRPr sz="1700">
                <a:solidFill>
                  <a:srgbClr val="EEF5FA"/>
                </a:solidFill>
              </a:defRPr>
            </a:pPr>
            <a:r>
              <a:t>WQ/WK/WV contain learned numbers, not English concepts or database-style labels.</a:t>
            </a:r>
          </a:p>
          <a:p>
            <a:pPr>
              <a:spcAft>
                <a:spcPts val="1000"/>
              </a:spcAft>
              <a:defRPr sz="1700">
                <a:solidFill>
                  <a:srgbClr val="EEF5FA"/>
                </a:solidFill>
              </a:defRPr>
            </a:pPr>
            <a:r>
              <a:t>Attention does not literally ask a natural-language question; “query/key/value” is an analogy for mathematical roles.</a:t>
            </a:r>
          </a:p>
          <a:p>
            <a:pPr>
              <a:spcAft>
                <a:spcPts val="1000"/>
              </a:spcAft>
              <a:defRPr sz="1700">
                <a:solidFill>
                  <a:srgbClr val="EEF5FA"/>
                </a:solidFill>
              </a:defRPr>
            </a:pPr>
            <a:r>
              <a:t>A token embedding is not the final contextual meaning. Context is built across Transformer layers.</a:t>
            </a:r>
          </a:p>
          <a:p>
            <a:pPr>
              <a:spcAft>
                <a:spcPts val="1000"/>
              </a:spcAft>
              <a:defRPr sz="1700">
                <a:solidFill>
                  <a:srgbClr val="EEF5FA"/>
                </a:solidFill>
              </a:defRPr>
            </a:pPr>
            <a:r>
              <a:t>Softmax does not train the model. Loss + backpropagation + optimizer updates do.</a:t>
            </a:r>
          </a:p>
          <a:p>
            <a:pPr>
              <a:spcAft>
                <a:spcPts val="1000"/>
              </a:spcAft>
              <a:defRPr sz="1700">
                <a:solidFill>
                  <a:srgbClr val="EEF5FA"/>
                </a:solidFill>
              </a:defRPr>
            </a:pPr>
            <a:r>
              <a:t>Gradient descent is used during training, not normal next-token inference.</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Whiteboard Summary — The Equations Worth Remembering</a:t>
            </a:r>
          </a:p>
        </p:txBody>
      </p:sp>
      <p:sp>
        <p:nvSpPr>
          <p:cNvPr id="3" name="TextBox 2"/>
          <p:cNvSpPr txBox="1"/>
          <p:nvPr/>
        </p:nvSpPr>
        <p:spPr>
          <a:xfrm>
            <a:off x="822960" y="1234440"/>
            <a:ext cx="10424160" cy="5212080"/>
          </a:xfrm>
          <a:prstGeom prst="rect">
            <a:avLst/>
          </a:prstGeom>
          <a:noFill/>
        </p:spPr>
        <p:txBody>
          <a:bodyPr wrap="none">
            <a:spAutoFit/>
          </a:bodyPr>
          <a:lstStyle/>
          <a:p>
            <a:pPr>
              <a:spcAft>
                <a:spcPts val="1000"/>
              </a:spcAft>
              <a:defRPr sz="1900">
                <a:solidFill>
                  <a:srgbClr val="EEF5FA"/>
                </a:solidFill>
              </a:defRPr>
            </a:pPr>
            <a:r>
              <a:t>Embedding:  X = lookup(token_ids, E)</a:t>
            </a:r>
          </a:p>
          <a:p>
            <a:pPr>
              <a:spcAft>
                <a:spcPts val="1000"/>
              </a:spcAft>
              <a:defRPr sz="1900">
                <a:solidFill>
                  <a:srgbClr val="EEF5FA"/>
                </a:solidFill>
              </a:defRPr>
            </a:pPr>
            <a:r>
              <a:t>Projections:  Q=XWQ,  K=XWK,  V=XWV</a:t>
            </a:r>
          </a:p>
          <a:p>
            <a:pPr>
              <a:spcAft>
                <a:spcPts val="1000"/>
              </a:spcAft>
              <a:defRPr sz="1900">
                <a:solidFill>
                  <a:srgbClr val="EEF5FA"/>
                </a:solidFill>
              </a:defRPr>
            </a:pPr>
            <a:r>
              <a:t>Attention:  A = softmax((QKᵀ / √d_head) + causal_mask)</a:t>
            </a:r>
          </a:p>
          <a:p>
            <a:pPr>
              <a:spcAft>
                <a:spcPts val="1000"/>
              </a:spcAft>
              <a:defRPr sz="1900">
                <a:solidFill>
                  <a:srgbClr val="EEF5FA"/>
                </a:solidFill>
              </a:defRPr>
            </a:pPr>
            <a:r>
              <a:t>Attention output:  O = AV</a:t>
            </a:r>
          </a:p>
          <a:p>
            <a:pPr>
              <a:spcAft>
                <a:spcPts val="1000"/>
              </a:spcAft>
              <a:defRPr sz="1900">
                <a:solidFill>
                  <a:srgbClr val="EEF5FA"/>
                </a:solidFill>
              </a:defRPr>
            </a:pPr>
            <a:r>
              <a:t>Vocabulary scores:  logits = hW_vocab</a:t>
            </a:r>
          </a:p>
          <a:p>
            <a:pPr>
              <a:spcAft>
                <a:spcPts val="1000"/>
              </a:spcAft>
              <a:defRPr sz="1900">
                <a:solidFill>
                  <a:srgbClr val="EEF5FA"/>
                </a:solidFill>
              </a:defRPr>
            </a:pPr>
            <a:r>
              <a:t>Probabilities:  p = softmax(logits)</a:t>
            </a:r>
          </a:p>
          <a:p>
            <a:pPr>
              <a:spcAft>
                <a:spcPts val="1000"/>
              </a:spcAft>
              <a:defRPr sz="1900">
                <a:solidFill>
                  <a:srgbClr val="EEF5FA"/>
                </a:solidFill>
              </a:defRPr>
            </a:pPr>
            <a:r>
              <a:t>Training loss:  L = cross_entropy(p, target)</a:t>
            </a:r>
          </a:p>
          <a:p>
            <a:pPr>
              <a:spcAft>
                <a:spcPts val="1000"/>
              </a:spcAft>
              <a:defRPr sz="1900">
                <a:solidFill>
                  <a:srgbClr val="EEF5FA"/>
                </a:solidFill>
              </a:defRPr>
            </a:pPr>
            <a:r>
              <a:t>Update concept:  W ← W − learning_rate × gradient</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Training Narrative — 60-Second Explanation</a:t>
            </a:r>
          </a:p>
        </p:txBody>
      </p:sp>
      <p:sp>
        <p:nvSpPr>
          <p:cNvPr id="3" name="TextBox 2"/>
          <p:cNvSpPr txBox="1"/>
          <p:nvPr/>
        </p:nvSpPr>
        <p:spPr>
          <a:xfrm>
            <a:off x="731520" y="1417320"/>
            <a:ext cx="10607040" cy="4480560"/>
          </a:xfrm>
          <a:prstGeom prst="rect">
            <a:avLst/>
          </a:prstGeom>
          <a:noFill/>
        </p:spPr>
        <p:txBody>
          <a:bodyPr wrap="none">
            <a:spAutoFit/>
          </a:bodyPr>
          <a:lstStyle/>
          <a:p>
            <a:pPr>
              <a:spcAft>
                <a:spcPts val="1000"/>
              </a:spcAft>
              <a:defRPr sz="1800">
                <a:solidFill>
                  <a:srgbClr val="EEF5FA"/>
                </a:solidFill>
              </a:defRPr>
            </a:pPr>
            <a:r>
              <a:t>Text is tokenized into IDs. IDs select learned embedding vectors. Those vectors pass through many Transformer blocks. In self-attention, learned matrices project each hidden state into Q, K and V. Q and K determine attention weights; those weights mix V vectors. MLP layers further transform the representation. The final hidden state is projected to one logit per vocabulary token, softmax turns logits into probabilities, and decoding selects the next token.</a:t>
            </a:r>
          </a:p>
          <a:p>
            <a:pPr>
              <a:spcAft>
                <a:spcPts val="1000"/>
              </a:spcAft>
              <a:defRPr sz="1800">
                <a:solidFill>
                  <a:srgbClr val="EEF5FA"/>
                </a:solidFill>
              </a:defRPr>
            </a:pPr>
            <a:r>
              <a:t>During training, the correct next token is already known. The model computes loss, backpropagation calculates gradients for the trainable weights, and an optimizer updates those weights. During inference, the learned weights stay fixed and only the forward prediction loop runs.</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1220"/>
        </a:solidFill>
        <a:effectLst/>
      </p:bgPr>
    </p:bg>
    <p:spTree>
      <p:nvGrpSpPr>
        <p:cNvPr id="1" name=""/>
        <p:cNvGrpSpPr/>
        <p:nvPr/>
      </p:nvGrpSpPr>
      <p:grpSpPr/>
      <p:sp>
        <p:nvSpPr>
          <p:cNvPr id="2" name="TextBox 1"/>
          <p:cNvSpPr txBox="1"/>
          <p:nvPr/>
        </p:nvSpPr>
        <p:spPr>
          <a:xfrm>
            <a:off x="502920" y="320040"/>
            <a:ext cx="11155680" cy="594360"/>
          </a:xfrm>
          <a:prstGeom prst="rect">
            <a:avLst/>
          </a:prstGeom>
          <a:noFill/>
        </p:spPr>
        <p:txBody>
          <a:bodyPr wrap="none">
            <a:spAutoFit/>
          </a:bodyPr>
          <a:lstStyle/>
          <a:p>
            <a:pPr>
              <a:defRPr sz="2800" b="1">
                <a:solidFill>
                  <a:srgbClr val="EEF5FA"/>
                </a:solidFill>
              </a:defRPr>
            </a:pPr>
            <a:r>
              <a:t>Suggested Live-Demo Sequence</a:t>
            </a:r>
          </a:p>
        </p:txBody>
      </p:sp>
      <p:sp>
        <p:nvSpPr>
          <p:cNvPr id="3" name="TextBox 2"/>
          <p:cNvSpPr txBox="1"/>
          <p:nvPr/>
        </p:nvSpPr>
        <p:spPr>
          <a:xfrm>
            <a:off x="731520" y="1234440"/>
            <a:ext cx="10607040" cy="5212080"/>
          </a:xfrm>
          <a:prstGeom prst="rect">
            <a:avLst/>
          </a:prstGeom>
          <a:noFill/>
        </p:spPr>
        <p:txBody>
          <a:bodyPr wrap="none">
            <a:spAutoFit/>
          </a:bodyPr>
          <a:lstStyle/>
          <a:p>
            <a:pPr>
              <a:spcAft>
                <a:spcPts val="1000"/>
              </a:spcAft>
              <a:defRPr sz="1700">
                <a:solidFill>
                  <a:srgbClr val="EEF5FA"/>
                </a:solidFill>
              </a:defRPr>
            </a:pPr>
            <a:r>
              <a:t>Use a 4-token sentence and a tiny 4-dimensional embedding so every number fits on a whiteboard.</a:t>
            </a:r>
          </a:p>
          <a:p>
            <a:pPr>
              <a:spcAft>
                <a:spcPts val="1000"/>
              </a:spcAft>
              <a:defRPr sz="1700">
                <a:solidFill>
                  <a:srgbClr val="EEF5FA"/>
                </a:solidFill>
              </a:defRPr>
            </a:pPr>
            <a:r>
              <a:t>Show one embedding row lookup.</a:t>
            </a:r>
          </a:p>
          <a:p>
            <a:pPr>
              <a:spcAft>
                <a:spcPts val="1000"/>
              </a:spcAft>
              <a:defRPr sz="1700">
                <a:solidFill>
                  <a:srgbClr val="EEF5FA"/>
                </a:solidFill>
              </a:defRPr>
            </a:pPr>
            <a:r>
              <a:t>Multiply one x vector by a tiny WQ matrix by hand.</a:t>
            </a:r>
          </a:p>
          <a:p>
            <a:pPr>
              <a:spcAft>
                <a:spcPts val="1000"/>
              </a:spcAft>
              <a:defRPr sz="1700">
                <a:solidFill>
                  <a:srgbClr val="EEF5FA"/>
                </a:solidFill>
              </a:defRPr>
            </a:pPr>
            <a:r>
              <a:t>Compute two Q·K dot products and a small softmax.</a:t>
            </a:r>
          </a:p>
          <a:p>
            <a:pPr>
              <a:spcAft>
                <a:spcPts val="1000"/>
              </a:spcAft>
              <a:defRPr sz="1700">
                <a:solidFill>
                  <a:srgbClr val="EEF5FA"/>
                </a:solidFill>
              </a:defRPr>
            </a:pPr>
            <a:r>
              <a:t>Use attention weights to combine two V vectors.</a:t>
            </a:r>
          </a:p>
          <a:p>
            <a:pPr>
              <a:spcAft>
                <a:spcPts val="1000"/>
              </a:spcAft>
              <a:defRPr sz="1700">
                <a:solidFill>
                  <a:srgbClr val="EEF5FA"/>
                </a:solidFill>
              </a:defRPr>
            </a:pPr>
            <a:r>
              <a:t>Show final logits and pick a token.</a:t>
            </a:r>
          </a:p>
          <a:p>
            <a:pPr>
              <a:spcAft>
                <a:spcPts val="1000"/>
              </a:spcAft>
              <a:defRPr sz="1700">
                <a:solidFill>
                  <a:srgbClr val="EEF5FA"/>
                </a:solidFill>
              </a:defRPr>
            </a:pPr>
            <a:r>
              <a:t>Then reveal the target, compute a simple loss conceptually, draw the backward gradient arrows, and update one weight.</a:t>
            </a:r>
          </a:p>
          <a:p>
            <a:pPr>
              <a:spcAft>
                <a:spcPts val="1000"/>
              </a:spcAft>
              <a:defRPr sz="1700">
                <a:solidFill>
                  <a:srgbClr val="EEF5FA"/>
                </a:solidFill>
              </a:defRPr>
            </a:pPr>
            <a:r>
              <a:t>Finally scale the picture: real LLMs perform the same categories of operations with vastly larger tensors, many heads and many layers.</a:t>
            </a:r>
          </a:p>
        </p:txBody>
      </p:sp>
      <p:sp>
        <p:nvSpPr>
          <p:cNvPr id="4" name="TextBox 3"/>
          <p:cNvSpPr txBox="1"/>
          <p:nvPr/>
        </p:nvSpPr>
        <p:spPr>
          <a:xfrm>
            <a:off x="11292840" y="6446520"/>
            <a:ext cx="502920" cy="228600"/>
          </a:xfrm>
          <a:prstGeom prst="rect">
            <a:avLst/>
          </a:prstGeom>
          <a:noFill/>
        </p:spPr>
        <p:txBody>
          <a:bodyPr wrap="none">
            <a:spAutoFit/>
          </a:bodyPr>
          <a:lstStyle/>
          <a:p>
            <a:pPr algn="r">
              <a:defRPr sz="900">
                <a:solidFill>
                  <a:srgbClr val="A4B8C9"/>
                </a:solidFill>
              </a:defRPr>
            </a:pPr>
            <a: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